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368" r:id="rId3"/>
    <p:sldId id="563" r:id="rId5"/>
    <p:sldId id="718" r:id="rId6"/>
    <p:sldId id="858" r:id="rId7"/>
    <p:sldId id="755" r:id="rId8"/>
    <p:sldId id="512" r:id="rId9"/>
    <p:sldId id="756" r:id="rId10"/>
    <p:sldId id="667" r:id="rId11"/>
    <p:sldId id="727" r:id="rId12"/>
    <p:sldId id="840" r:id="rId13"/>
    <p:sldId id="722" r:id="rId14"/>
    <p:sldId id="728" r:id="rId15"/>
    <p:sldId id="497" r:id="rId16"/>
    <p:sldId id="759" r:id="rId17"/>
    <p:sldId id="676" r:id="rId18"/>
    <p:sldId id="729" r:id="rId19"/>
    <p:sldId id="699" r:id="rId20"/>
    <p:sldId id="498" r:id="rId21"/>
    <p:sldId id="558" r:id="rId22"/>
    <p:sldId id="730" r:id="rId23"/>
    <p:sldId id="917" r:id="rId24"/>
    <p:sldId id="918" r:id="rId25"/>
    <p:sldId id="919" r:id="rId26"/>
    <p:sldId id="920" r:id="rId27"/>
    <p:sldId id="921" r:id="rId28"/>
    <p:sldId id="362" r:id="rId29"/>
  </p:sldIdLst>
  <p:sldSz cx="12190095" cy="6859270"/>
  <p:notesSz cx="6858000" cy="9144000"/>
  <p:custDataLst>
    <p:tags r:id="rId35"/>
  </p:custDataLst>
  <p:defaultTextStyle>
    <a:defPPr>
      <a:defRPr lang="zh-CN"/>
    </a:defPPr>
    <a:lvl1pPr algn="l" defTabSz="1089025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44830" indent="-87630" algn="l" defTabSz="1089025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089025" indent="-174625" algn="l" defTabSz="1089025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31950" indent="-260350" algn="l" defTabSz="1089025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176780" indent="-347980" algn="l" defTabSz="1089025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9" userDrawn="1">
          <p15:clr>
            <a:srgbClr val="A4A3A4"/>
          </p15:clr>
        </p15:guide>
        <p15:guide id="2" orient="horz" pos="3972" userDrawn="1">
          <p15:clr>
            <a:srgbClr val="A4A3A4"/>
          </p15:clr>
        </p15:guide>
        <p15:guide id="3" pos="3878" userDrawn="1">
          <p15:clr>
            <a:srgbClr val="A4A3A4"/>
          </p15:clr>
        </p15:guide>
        <p15:guide id="4" pos="7173" userDrawn="1">
          <p15:clr>
            <a:srgbClr val="A4A3A4"/>
          </p15:clr>
        </p15:guide>
        <p15:guide id="5" pos="5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龙时富" initials="" lastIdx="2" clrIdx="0"/>
  <p:cmAuthor id="2" name="Saku Uchikawa" initials="" lastIdx="11" clrIdx="0"/>
  <p:cmAuthor id="3" name="  " initials="" lastIdx="1" clrIdx="2"/>
  <p:cmAuthor id="4" name="Mary Feil-Jacobs" initials="" lastIdx="4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F80BD"/>
    <a:srgbClr val="1D9ECE"/>
    <a:srgbClr val="FF0000"/>
    <a:srgbClr val="629DD1"/>
    <a:srgbClr val="C288FF"/>
    <a:srgbClr val="FF85DA"/>
    <a:srgbClr val="00458E"/>
    <a:srgbClr val="8B8B8B"/>
    <a:srgbClr val="003589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6" autoAdjust="0"/>
    <p:restoredTop sz="99072" autoAdjust="0"/>
  </p:normalViewPr>
  <p:slideViewPr>
    <p:cSldViewPr showGuides="1">
      <p:cViewPr varScale="1">
        <p:scale>
          <a:sx n="67" d="100"/>
          <a:sy n="67" d="100"/>
        </p:scale>
        <p:origin x="504" y="52"/>
      </p:cViewPr>
      <p:guideLst>
        <p:guide orient="horz" pos="1909"/>
        <p:guide orient="horz" pos="3972"/>
        <p:guide pos="3878"/>
        <p:guide pos="7173"/>
        <p:guide pos="5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gs" Target="tags/tag75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buFont typeface="Arial" panose="020B0604020202020204" pitchFamily="34" charset="0"/>
              <a:buNone/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71C21E3-71A0-4368-8D34-243575418C1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buFont typeface="Arial" panose="020B0604020202020204" pitchFamily="34" charset="0"/>
              <a:buNone/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3C330A20-164F-4140-A4BE-43CCA82EAFB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096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096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17D4A54-E412-4591-9559-7EBB594716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3011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30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78734BC-C8EE-4F73-A550-1E3810CCA17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13BD29C-7ECB-4897-9DE8-77744455BD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427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42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D52B80B-233F-4BEC-8C9F-0FDD337D00C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9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939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939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E809775-148E-440B-9AFA-1236AFF995A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2467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451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451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0F7E42B-0E52-4D91-B563-2539BB6B656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0659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066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2F033C3-F073-4537-A815-0CD692A5664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3731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782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7782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33B8E02-9D5F-4238-B21A-2F04B86FF4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987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FCC91B4-EEAA-4EE6-A2E5-5147CDF7A8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987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FCC91B4-EEAA-4EE6-A2E5-5147CDF7A8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987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FCC91B4-EEAA-4EE6-A2E5-5147CDF7A8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987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FCC91B4-EEAA-4EE6-A2E5-5147CDF7A8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7987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FCC91B4-EEAA-4EE6-A2E5-5147CDF7A85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4995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84996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FFFC02C-4F67-4313-BA06-13B0FB09861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坤发logo (2)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18745" y="45720"/>
            <a:ext cx="1800000" cy="613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两栏内容">
    <p:bg bwMode="auto"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/>
          <p:cNvSpPr txBox="1">
            <a:spLocks noChangeArrowheads="1"/>
          </p:cNvSpPr>
          <p:nvPr userDrawn="1"/>
        </p:nvSpPr>
        <p:spPr bwMode="auto">
          <a:xfrm>
            <a:off x="10801350" y="404813"/>
            <a:ext cx="1073150" cy="4000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3980" indent="-347980" defTabSz="108902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91180" indent="-347980" defTabSz="108902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8380" indent="-347980" defTabSz="108902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5580" indent="-347980" defTabSz="1089025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16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EE22F701-FC00-4F58-B35B-AB8F6B8E2513}" type="slidenum">
              <a:rPr lang="zh-CN" altLang="en-US" sz="200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0" y="909638"/>
            <a:ext cx="1219993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坤发logo (2)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68910" y="142240"/>
            <a:ext cx="1800000" cy="6136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  <p:txStyles>
    <p:titleStyle>
      <a:lvl1pPr algn="ctr" defTabSz="1087120" rtl="0" eaLnBrk="0" fontAlgn="base" hangingPunct="0">
        <a:spcBef>
          <a:spcPct val="0"/>
        </a:spcBef>
        <a:spcAft>
          <a:spcPct val="0"/>
        </a:spcAft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87120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087120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087120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087120" rtl="0" eaLnBrk="0" fontAlgn="base" hangingPunct="0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087120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087120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087120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087120" rtl="0" fontAlgn="base">
        <a:spcBef>
          <a:spcPct val="0"/>
        </a:spcBef>
        <a:spcAft>
          <a:spcPct val="0"/>
        </a:spcAft>
        <a:defRPr sz="5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08305" indent="-408305" algn="l" defTabSz="10871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1630" algn="l" defTabSz="10871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1780" algn="l" defTabSz="10871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3050" algn="l" defTabSz="10871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925" indent="-271780" algn="l" defTabSz="10871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275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6950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14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4705" indent="-271780" algn="l" defTabSz="10877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14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34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453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8730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2925" algn="l" defTabSz="108775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kdocs.cn/l/ce6PfWpg7ayc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kdocs.cn/l/cjAc6RndziA8" TargetMode="External"/><Relationship Id="rId4" Type="http://schemas.openxmlformats.org/officeDocument/2006/relationships/hyperlink" Target="https://kdocs.cn/l/csJx6mH0UXTr" TargetMode="External"/><Relationship Id="rId3" Type="http://schemas.openxmlformats.org/officeDocument/2006/relationships/hyperlink" Target="https://kdocs.cn/l/cbjdJFxI0TYW" TargetMode="External"/><Relationship Id="rId2" Type="http://schemas.openxmlformats.org/officeDocument/2006/relationships/hyperlink" Target="https://kdocs.cn/l/ckq0GnxGMH5E" TargetMode="External"/><Relationship Id="rId1" Type="http://schemas.openxmlformats.org/officeDocument/2006/relationships/tags" Target="../tags/tag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2.xml"/><Relationship Id="rId11" Type="http://schemas.openxmlformats.org/officeDocument/2006/relationships/hyperlink" Target="https://kdocs.cn/l/cm4CEGiBsx6Y" TargetMode="External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7" Type="http://schemas.openxmlformats.org/officeDocument/2006/relationships/notesSlide" Target="../notesSlides/notesSlide12.xml"/><Relationship Id="rId46" Type="http://schemas.openxmlformats.org/officeDocument/2006/relationships/slideLayout" Target="../slideLayouts/slideLayout2.xml"/><Relationship Id="rId45" Type="http://schemas.openxmlformats.org/officeDocument/2006/relationships/tags" Target="../tags/tag74.xml"/><Relationship Id="rId44" Type="http://schemas.openxmlformats.org/officeDocument/2006/relationships/tags" Target="../tags/tag73.xml"/><Relationship Id="rId43" Type="http://schemas.openxmlformats.org/officeDocument/2006/relationships/tags" Target="../tags/tag72.xml"/><Relationship Id="rId42" Type="http://schemas.openxmlformats.org/officeDocument/2006/relationships/tags" Target="../tags/tag71.xml"/><Relationship Id="rId41" Type="http://schemas.openxmlformats.org/officeDocument/2006/relationships/tags" Target="../tags/tag70.xml"/><Relationship Id="rId40" Type="http://schemas.openxmlformats.org/officeDocument/2006/relationships/tags" Target="../tags/tag69.xml"/><Relationship Id="rId4" Type="http://schemas.openxmlformats.org/officeDocument/2006/relationships/tags" Target="../tags/tag33.xml"/><Relationship Id="rId39" Type="http://schemas.openxmlformats.org/officeDocument/2006/relationships/tags" Target="../tags/tag68.xml"/><Relationship Id="rId38" Type="http://schemas.openxmlformats.org/officeDocument/2006/relationships/tags" Target="../tags/tag67.xml"/><Relationship Id="rId37" Type="http://schemas.openxmlformats.org/officeDocument/2006/relationships/tags" Target="../tags/tag66.xml"/><Relationship Id="rId36" Type="http://schemas.openxmlformats.org/officeDocument/2006/relationships/tags" Target="../tags/tag65.xml"/><Relationship Id="rId35" Type="http://schemas.openxmlformats.org/officeDocument/2006/relationships/tags" Target="../tags/tag64.xml"/><Relationship Id="rId34" Type="http://schemas.openxmlformats.org/officeDocument/2006/relationships/tags" Target="../tags/tag63.xml"/><Relationship Id="rId33" Type="http://schemas.openxmlformats.org/officeDocument/2006/relationships/tags" Target="../tags/tag62.xml"/><Relationship Id="rId32" Type="http://schemas.openxmlformats.org/officeDocument/2006/relationships/tags" Target="../tags/tag61.xml"/><Relationship Id="rId31" Type="http://schemas.openxmlformats.org/officeDocument/2006/relationships/tags" Target="../tags/tag60.xml"/><Relationship Id="rId30" Type="http://schemas.openxmlformats.org/officeDocument/2006/relationships/tags" Target="../tags/tag59.xml"/><Relationship Id="rId3" Type="http://schemas.openxmlformats.org/officeDocument/2006/relationships/tags" Target="../tags/tag32.xml"/><Relationship Id="rId29" Type="http://schemas.openxmlformats.org/officeDocument/2006/relationships/tags" Target="../tags/tag58.xml"/><Relationship Id="rId28" Type="http://schemas.openxmlformats.org/officeDocument/2006/relationships/tags" Target="../tags/tag57.xml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89138"/>
            <a:ext cx="12190413" cy="2879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4" name="TextBox 3"/>
          <p:cNvSpPr txBox="1"/>
          <p:nvPr/>
        </p:nvSpPr>
        <p:spPr>
          <a:xfrm>
            <a:off x="1303911" y="2441103"/>
            <a:ext cx="10149145" cy="1753235"/>
          </a:xfrm>
          <a:prstGeom prst="rect">
            <a:avLst/>
          </a:prstGeom>
          <a:noFill/>
        </p:spPr>
        <p:txBody>
          <a:bodyPr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7200" spc="50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(P)" pitchFamily="34" charset="-122"/>
                <a:ea typeface="华康俪金黑W8(P)" pitchFamily="34" charset="-122"/>
                <a:cs typeface="经典繁仿黑" pitchFamily="49" charset="-122"/>
              </a:defRPr>
            </a:lvl1pPr>
          </a:lstStyle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5400" b="1" spc="0" noProof="1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市一药学平台</a:t>
            </a:r>
            <a:endParaRPr lang="en-US" altLang="zh-CN" sz="5400" b="1" spc="0" noProof="1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5400" b="1" spc="0" noProof="1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信息化建设项目启动会议</a:t>
            </a:r>
            <a:endParaRPr lang="zh-CN" altLang="en-US" sz="5400" b="1" spc="0" noProof="1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0" name="TextBox 14"/>
          <p:cNvSpPr txBox="1">
            <a:spLocks noChangeArrowheads="1"/>
          </p:cNvSpPr>
          <p:nvPr/>
        </p:nvSpPr>
        <p:spPr bwMode="auto">
          <a:xfrm>
            <a:off x="7966075" y="5518150"/>
            <a:ext cx="2926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>
              <a:buFont typeface="Arial" panose="020B0604020202020204" pitchFamily="34" charset="0"/>
              <a:buNone/>
            </a:pPr>
            <a:r>
              <a:rPr lang="zh-CN" altLang="en-US" sz="1800" dirty="0">
                <a:sym typeface="+mn-ea"/>
              </a:rPr>
              <a:t>上海坤发信息技术有限公司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2" name="文本框 2"/>
          <p:cNvSpPr txBox="1">
            <a:spLocks noChangeArrowheads="1"/>
          </p:cNvSpPr>
          <p:nvPr/>
        </p:nvSpPr>
        <p:spPr bwMode="auto">
          <a:xfrm>
            <a:off x="9406890" y="5977255"/>
            <a:ext cx="139827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/>
              <a:t>2024</a:t>
            </a:r>
            <a:r>
              <a:rPr lang="zh-CN" altLang="en-US"/>
              <a:t>年</a:t>
            </a:r>
            <a:r>
              <a:rPr lang="en-US" altLang="zh-CN"/>
              <a:t>6</a:t>
            </a:r>
            <a:r>
              <a:rPr lang="zh-CN" altLang="en-US"/>
              <a:t>月</a:t>
            </a:r>
            <a:endParaRPr lang="zh-CN" altLang="en-US"/>
          </a:p>
        </p:txBody>
      </p:sp>
    </p:spTree>
  </p:cSld>
  <p:clrMapOvr>
    <a:masterClrMapping/>
  </p:clrMapOvr>
  <p:transition spd="slow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1002030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263118" y="1002804"/>
            <a:ext cx="3280410" cy="511504"/>
            <a:chOff x="6339097" y="1573726"/>
            <a:chExt cx="3898993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455327" y="1613731"/>
              <a:ext cx="3782763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医院信息系统现状与目标</a:t>
              </a:r>
              <a:endParaRPr lang="zh-CN" altLang="en-US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9894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41966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1990" name="组合 24"/>
          <p:cNvGrpSpPr/>
          <p:nvPr/>
        </p:nvGrpSpPr>
        <p:grpSpPr bwMode="auto">
          <a:xfrm>
            <a:off x="6262688" y="1698943"/>
            <a:ext cx="3151187" cy="511175"/>
            <a:chOff x="6339097" y="3296031"/>
            <a:chExt cx="3744416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2015" name="矩形 26"/>
            <p:cNvSpPr>
              <a:spLocks noChangeArrowheads="1"/>
            </p:cNvSpPr>
            <p:nvPr/>
          </p:nvSpPr>
          <p:spPr bwMode="auto">
            <a:xfrm>
              <a:off x="6442346" y="3336319"/>
              <a:ext cx="3348260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项目范围介绍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138805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1996" name="组合 24"/>
          <p:cNvGrpSpPr/>
          <p:nvPr/>
        </p:nvGrpSpPr>
        <p:grpSpPr bwMode="auto">
          <a:xfrm>
            <a:off x="6253163" y="2418080"/>
            <a:ext cx="3151187" cy="512763"/>
            <a:chOff x="6339097" y="3296031"/>
            <a:chExt cx="3744416" cy="511504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2013" name="矩形 27"/>
            <p:cNvSpPr>
              <a:spLocks noChangeArrowheads="1"/>
            </p:cNvSpPr>
            <p:nvPr/>
          </p:nvSpPr>
          <p:spPr bwMode="auto">
            <a:xfrm>
              <a:off x="6490760" y="3336571"/>
              <a:ext cx="3576531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项目进度计划与里程碑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85953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1998" name="组合 24"/>
          <p:cNvGrpSpPr/>
          <p:nvPr/>
        </p:nvGrpSpPr>
        <p:grpSpPr bwMode="auto">
          <a:xfrm>
            <a:off x="6262688" y="3138805"/>
            <a:ext cx="3151187" cy="511175"/>
            <a:chOff x="6339097" y="3296031"/>
            <a:chExt cx="3744416" cy="511504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2011" name="矩形 31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项目风险管理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8025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2000" name="组合 24"/>
          <p:cNvGrpSpPr/>
          <p:nvPr/>
        </p:nvGrpSpPr>
        <p:grpSpPr bwMode="auto">
          <a:xfrm>
            <a:off x="6262688" y="3859530"/>
            <a:ext cx="3151187" cy="511175"/>
            <a:chOff x="6339097" y="3296031"/>
            <a:chExt cx="3744416" cy="511504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2009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项目团队与职责分工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9939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2002" name="组合 24"/>
          <p:cNvGrpSpPr/>
          <p:nvPr/>
        </p:nvGrpSpPr>
        <p:grpSpPr bwMode="auto">
          <a:xfrm>
            <a:off x="6262688" y="4578668"/>
            <a:ext cx="3151187" cy="511175"/>
            <a:chOff x="6339097" y="3296031"/>
            <a:chExt cx="3744416" cy="511504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2007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项目沟通协调机制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003" name="组合 24"/>
          <p:cNvGrpSpPr/>
          <p:nvPr/>
        </p:nvGrpSpPr>
        <p:grpSpPr bwMode="auto">
          <a:xfrm>
            <a:off x="6262688" y="5283518"/>
            <a:ext cx="3151187" cy="511175"/>
            <a:chOff x="6339097" y="3296031"/>
            <a:chExt cx="3744416" cy="511504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2005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项目预期成果展示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药学平台政策</a:t>
            </a: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指引</a:t>
            </a:r>
            <a:endParaRPr lang="zh-CN" altLang="en-US" sz="2800" b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505" y="1226185"/>
            <a:ext cx="5882640" cy="26803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925" y="1140460"/>
            <a:ext cx="3162935" cy="2766695"/>
          </a:xfrm>
          <a:prstGeom prst="rect">
            <a:avLst/>
          </a:prstGeom>
        </p:spPr>
      </p:pic>
      <p:grpSp>
        <p:nvGrpSpPr>
          <p:cNvPr id="119" name="组合 118"/>
          <p:cNvGrpSpPr/>
          <p:nvPr/>
        </p:nvGrpSpPr>
        <p:grpSpPr>
          <a:xfrm rot="0">
            <a:off x="696595" y="3988435"/>
            <a:ext cx="9721850" cy="2076450"/>
            <a:chOff x="5239" y="3695"/>
            <a:chExt cx="8426" cy="3609"/>
          </a:xfrm>
        </p:grpSpPr>
        <p:sp>
          <p:nvSpPr>
            <p:cNvPr id="70" name="Freeform 65"/>
            <p:cNvSpPr/>
            <p:nvPr/>
          </p:nvSpPr>
          <p:spPr bwMode="auto">
            <a:xfrm>
              <a:off x="13363" y="4026"/>
              <a:ext cx="302" cy="3244"/>
            </a:xfrm>
            <a:custGeom>
              <a:avLst/>
              <a:gdLst>
                <a:gd name="T0" fmla="*/ 125 w 125"/>
                <a:gd name="T1" fmla="*/ 1343 h 1343"/>
                <a:gd name="T2" fmla="*/ 0 w 125"/>
                <a:gd name="T3" fmla="*/ 1343 h 1343"/>
                <a:gd name="T4" fmla="*/ 0 w 125"/>
                <a:gd name="T5" fmla="*/ 1327 h 1343"/>
                <a:gd name="T6" fmla="*/ 109 w 125"/>
                <a:gd name="T7" fmla="*/ 1327 h 1343"/>
                <a:gd name="T8" fmla="*/ 109 w 125"/>
                <a:gd name="T9" fmla="*/ 0 h 1343"/>
                <a:gd name="T10" fmla="*/ 125 w 125"/>
                <a:gd name="T11" fmla="*/ 0 h 1343"/>
                <a:gd name="T12" fmla="*/ 125 w 125"/>
                <a:gd name="T13" fmla="*/ 1343 h 1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5" h="1343">
                  <a:moveTo>
                    <a:pt x="125" y="1343"/>
                  </a:moveTo>
                  <a:lnTo>
                    <a:pt x="0" y="1343"/>
                  </a:lnTo>
                  <a:lnTo>
                    <a:pt x="0" y="1327"/>
                  </a:lnTo>
                  <a:lnTo>
                    <a:pt x="109" y="1327"/>
                  </a:lnTo>
                  <a:lnTo>
                    <a:pt x="109" y="0"/>
                  </a:lnTo>
                  <a:lnTo>
                    <a:pt x="125" y="0"/>
                  </a:lnTo>
                  <a:lnTo>
                    <a:pt x="125" y="1343"/>
                  </a:lnTo>
                  <a:close/>
                </a:path>
              </a:pathLst>
            </a:custGeom>
            <a:solidFill>
              <a:srgbClr val="B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Line 66"/>
            <p:cNvSpPr>
              <a:spLocks noChangeShapeType="1"/>
            </p:cNvSpPr>
            <p:nvPr/>
          </p:nvSpPr>
          <p:spPr bwMode="auto">
            <a:xfrm>
              <a:off x="13363" y="7251"/>
              <a:ext cx="0" cy="0"/>
            </a:xfrm>
            <a:prstGeom prst="line">
              <a:avLst/>
            </a:prstGeom>
            <a:solidFill>
              <a:srgbClr val="B2E8EC"/>
            </a:solidFill>
            <a:ln w="25400" cap="flat">
              <a:solidFill>
                <a:srgbClr val="23181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Rectangle 67"/>
            <p:cNvSpPr>
              <a:spLocks noChangeArrowheads="1"/>
            </p:cNvSpPr>
            <p:nvPr/>
          </p:nvSpPr>
          <p:spPr bwMode="auto">
            <a:xfrm>
              <a:off x="5362" y="7232"/>
              <a:ext cx="6955" cy="39"/>
            </a:xfrm>
            <a:prstGeom prst="rect">
              <a:avLst/>
            </a:prstGeom>
            <a:solidFill>
              <a:srgbClr val="B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8"/>
            <p:cNvSpPr/>
            <p:nvPr/>
          </p:nvSpPr>
          <p:spPr bwMode="auto">
            <a:xfrm>
              <a:off x="5239" y="3895"/>
              <a:ext cx="8322" cy="3266"/>
            </a:xfrm>
            <a:custGeom>
              <a:avLst/>
              <a:gdLst>
                <a:gd name="T0" fmla="*/ 3446 w 3446"/>
                <a:gd name="T1" fmla="*/ 1352 h 1352"/>
                <a:gd name="T2" fmla="*/ 0 w 3446"/>
                <a:gd name="T3" fmla="*/ 1352 h 1352"/>
                <a:gd name="T4" fmla="*/ 0 w 3446"/>
                <a:gd name="T5" fmla="*/ 0 h 1352"/>
                <a:gd name="T6" fmla="*/ 128 w 3446"/>
                <a:gd name="T7" fmla="*/ 0 h 1352"/>
                <a:gd name="T8" fmla="*/ 128 w 3446"/>
                <a:gd name="T9" fmla="*/ 16 h 1352"/>
                <a:gd name="T10" fmla="*/ 16 w 3446"/>
                <a:gd name="T11" fmla="*/ 16 h 1352"/>
                <a:gd name="T12" fmla="*/ 16 w 3446"/>
                <a:gd name="T13" fmla="*/ 1336 h 1352"/>
                <a:gd name="T14" fmla="*/ 3430 w 3446"/>
                <a:gd name="T15" fmla="*/ 1336 h 1352"/>
                <a:gd name="T16" fmla="*/ 3430 w 3446"/>
                <a:gd name="T17" fmla="*/ 16 h 1352"/>
                <a:gd name="T18" fmla="*/ 345 w 3446"/>
                <a:gd name="T19" fmla="*/ 16 h 1352"/>
                <a:gd name="T20" fmla="*/ 345 w 3446"/>
                <a:gd name="T21" fmla="*/ 0 h 1352"/>
                <a:gd name="T22" fmla="*/ 3446 w 3446"/>
                <a:gd name="T23" fmla="*/ 0 h 1352"/>
                <a:gd name="T24" fmla="*/ 3446 w 3446"/>
                <a:gd name="T25" fmla="*/ 1352 h 1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446" h="1352">
                  <a:moveTo>
                    <a:pt x="3446" y="1352"/>
                  </a:moveTo>
                  <a:lnTo>
                    <a:pt x="0" y="1352"/>
                  </a:lnTo>
                  <a:lnTo>
                    <a:pt x="0" y="0"/>
                  </a:lnTo>
                  <a:lnTo>
                    <a:pt x="128" y="0"/>
                  </a:lnTo>
                  <a:lnTo>
                    <a:pt x="128" y="16"/>
                  </a:lnTo>
                  <a:lnTo>
                    <a:pt x="16" y="16"/>
                  </a:lnTo>
                  <a:lnTo>
                    <a:pt x="16" y="1336"/>
                  </a:lnTo>
                  <a:lnTo>
                    <a:pt x="3430" y="1336"/>
                  </a:lnTo>
                  <a:lnTo>
                    <a:pt x="3430" y="16"/>
                  </a:lnTo>
                  <a:lnTo>
                    <a:pt x="345" y="16"/>
                  </a:lnTo>
                  <a:lnTo>
                    <a:pt x="345" y="0"/>
                  </a:lnTo>
                  <a:lnTo>
                    <a:pt x="3446" y="0"/>
                  </a:lnTo>
                  <a:lnTo>
                    <a:pt x="3446" y="1352"/>
                  </a:lnTo>
                  <a:close/>
                </a:path>
              </a:pathLst>
            </a:cu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69"/>
            <p:cNvSpPr/>
            <p:nvPr/>
          </p:nvSpPr>
          <p:spPr bwMode="auto">
            <a:xfrm>
              <a:off x="5633" y="3695"/>
              <a:ext cx="174" cy="181"/>
            </a:xfrm>
            <a:custGeom>
              <a:avLst/>
              <a:gdLst>
                <a:gd name="T0" fmla="*/ 27 w 27"/>
                <a:gd name="T1" fmla="*/ 0 h 28"/>
                <a:gd name="T2" fmla="*/ 27 w 27"/>
                <a:gd name="T3" fmla="*/ 28 h 28"/>
                <a:gd name="T4" fmla="*/ 0 w 27"/>
                <a:gd name="T5" fmla="*/ 28 h 28"/>
                <a:gd name="T6" fmla="*/ 27 w 27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8">
                  <a:moveTo>
                    <a:pt x="27" y="0"/>
                  </a:moveTo>
                  <a:cubicBezTo>
                    <a:pt x="27" y="28"/>
                    <a:pt x="27" y="28"/>
                    <a:pt x="27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2"/>
                    <a:pt x="12" y="0"/>
                    <a:pt x="27" y="0"/>
                  </a:cubicBezTo>
                </a:path>
              </a:pathLst>
            </a:custGeom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70"/>
            <p:cNvSpPr/>
            <p:nvPr/>
          </p:nvSpPr>
          <p:spPr bwMode="auto">
            <a:xfrm>
              <a:off x="5705" y="3714"/>
              <a:ext cx="302" cy="362"/>
            </a:xfrm>
            <a:custGeom>
              <a:avLst/>
              <a:gdLst>
                <a:gd name="T0" fmla="*/ 19 w 47"/>
                <a:gd name="T1" fmla="*/ 0 h 56"/>
                <a:gd name="T2" fmla="*/ 47 w 47"/>
                <a:gd name="T3" fmla="*/ 28 h 56"/>
                <a:gd name="T4" fmla="*/ 19 w 47"/>
                <a:gd name="T5" fmla="*/ 56 h 56"/>
                <a:gd name="T6" fmla="*/ 0 w 47"/>
                <a:gd name="T7" fmla="*/ 47 h 56"/>
                <a:gd name="T8" fmla="*/ 19 w 47"/>
                <a:gd name="T9" fmla="*/ 28 h 56"/>
                <a:gd name="T10" fmla="*/ 19 w 47"/>
                <a:gd name="T1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" h="56">
                  <a:moveTo>
                    <a:pt x="19" y="0"/>
                  </a:moveTo>
                  <a:cubicBezTo>
                    <a:pt x="35" y="0"/>
                    <a:pt x="47" y="13"/>
                    <a:pt x="47" y="28"/>
                  </a:cubicBezTo>
                  <a:cubicBezTo>
                    <a:pt x="47" y="43"/>
                    <a:pt x="35" y="56"/>
                    <a:pt x="19" y="56"/>
                  </a:cubicBezTo>
                  <a:cubicBezTo>
                    <a:pt x="12" y="56"/>
                    <a:pt x="5" y="52"/>
                    <a:pt x="0" y="47"/>
                  </a:cubicBezTo>
                  <a:cubicBezTo>
                    <a:pt x="19" y="28"/>
                    <a:pt x="19" y="28"/>
                    <a:pt x="19" y="28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1"/>
            <p:cNvSpPr/>
            <p:nvPr/>
          </p:nvSpPr>
          <p:spPr bwMode="auto">
            <a:xfrm>
              <a:off x="5606" y="3895"/>
              <a:ext cx="181" cy="123"/>
            </a:xfrm>
            <a:custGeom>
              <a:avLst/>
              <a:gdLst>
                <a:gd name="T0" fmla="*/ 28 w 28"/>
                <a:gd name="T1" fmla="*/ 0 h 19"/>
                <a:gd name="T2" fmla="*/ 8 w 28"/>
                <a:gd name="T3" fmla="*/ 19 h 19"/>
                <a:gd name="T4" fmla="*/ 0 w 28"/>
                <a:gd name="T5" fmla="*/ 0 h 19"/>
                <a:gd name="T6" fmla="*/ 28 w 28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9">
                  <a:moveTo>
                    <a:pt x="28" y="0"/>
                  </a:moveTo>
                  <a:cubicBezTo>
                    <a:pt x="8" y="19"/>
                    <a:pt x="8" y="19"/>
                    <a:pt x="8" y="19"/>
                  </a:cubicBezTo>
                  <a:cubicBezTo>
                    <a:pt x="3" y="14"/>
                    <a:pt x="0" y="8"/>
                    <a:pt x="0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Rectangle 72"/>
            <p:cNvSpPr>
              <a:spLocks noChangeArrowheads="1"/>
            </p:cNvSpPr>
            <p:nvPr/>
          </p:nvSpPr>
          <p:spPr bwMode="auto">
            <a:xfrm>
              <a:off x="6987" y="3772"/>
              <a:ext cx="1019" cy="41"/>
            </a:xfrm>
            <a:prstGeom prst="rect">
              <a:avLst/>
            </a:prstGeom>
            <a:solidFill>
              <a:srgbClr val="B2E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Oval 73"/>
            <p:cNvSpPr>
              <a:spLocks noChangeArrowheads="1"/>
            </p:cNvSpPr>
            <p:nvPr/>
          </p:nvSpPr>
          <p:spPr bwMode="auto">
            <a:xfrm>
              <a:off x="6072" y="3741"/>
              <a:ext cx="104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Oval 74"/>
            <p:cNvSpPr>
              <a:spLocks noChangeArrowheads="1"/>
            </p:cNvSpPr>
            <p:nvPr/>
          </p:nvSpPr>
          <p:spPr bwMode="auto">
            <a:xfrm>
              <a:off x="6265" y="3741"/>
              <a:ext cx="97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Oval 75"/>
            <p:cNvSpPr>
              <a:spLocks noChangeArrowheads="1"/>
            </p:cNvSpPr>
            <p:nvPr/>
          </p:nvSpPr>
          <p:spPr bwMode="auto">
            <a:xfrm>
              <a:off x="5258" y="3741"/>
              <a:ext cx="97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Oval 76"/>
            <p:cNvSpPr>
              <a:spLocks noChangeArrowheads="1"/>
            </p:cNvSpPr>
            <p:nvPr/>
          </p:nvSpPr>
          <p:spPr bwMode="auto">
            <a:xfrm>
              <a:off x="5447" y="3741"/>
              <a:ext cx="97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6451" y="3741"/>
              <a:ext cx="99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>
              <a:off x="6640" y="3741"/>
              <a:ext cx="104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Oval 79"/>
            <p:cNvSpPr>
              <a:spLocks noChangeArrowheads="1"/>
            </p:cNvSpPr>
            <p:nvPr/>
          </p:nvSpPr>
          <p:spPr bwMode="auto">
            <a:xfrm>
              <a:off x="6833" y="3741"/>
              <a:ext cx="97" cy="97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80"/>
            <p:cNvSpPr>
              <a:spLocks noChangeArrowheads="1"/>
            </p:cNvSpPr>
            <p:nvPr/>
          </p:nvSpPr>
          <p:spPr bwMode="auto">
            <a:xfrm>
              <a:off x="12426" y="7200"/>
              <a:ext cx="97" cy="104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12614" y="7200"/>
              <a:ext cx="101" cy="104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Oval 82"/>
            <p:cNvSpPr>
              <a:spLocks noChangeArrowheads="1"/>
            </p:cNvSpPr>
            <p:nvPr/>
          </p:nvSpPr>
          <p:spPr bwMode="auto">
            <a:xfrm>
              <a:off x="12800" y="7200"/>
              <a:ext cx="104" cy="104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Oval 83"/>
            <p:cNvSpPr>
              <a:spLocks noChangeArrowheads="1"/>
            </p:cNvSpPr>
            <p:nvPr/>
          </p:nvSpPr>
          <p:spPr bwMode="auto">
            <a:xfrm>
              <a:off x="12994" y="7200"/>
              <a:ext cx="97" cy="104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Oval 84"/>
            <p:cNvSpPr>
              <a:spLocks noChangeArrowheads="1"/>
            </p:cNvSpPr>
            <p:nvPr/>
          </p:nvSpPr>
          <p:spPr bwMode="auto">
            <a:xfrm>
              <a:off x="13182" y="7200"/>
              <a:ext cx="97" cy="104"/>
            </a:xfrm>
            <a:prstGeom prst="ellipse">
              <a:avLst/>
            </a:prstGeom>
            <a:solidFill>
              <a:srgbClr val="06A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66445" y="4180840"/>
            <a:ext cx="9454515" cy="1631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       </a:t>
            </a:r>
            <a:r>
              <a:rPr lang="zh-CN" altLang="en-US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因此</a:t>
            </a:r>
            <a:r>
              <a:rPr lang="en-US" altLang="zh-CN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</a:t>
            </a:r>
            <a:r>
              <a:rPr lang="zh-CN" altLang="en-US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医疗机构急需构建临床</a:t>
            </a:r>
            <a:r>
              <a:rPr lang="zh-CN" altLang="en-US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 action="ppaction://hlinkfile"/>
              </a:rPr>
              <a:t>药学数据中心</a:t>
            </a:r>
            <a:r>
              <a:rPr lang="zh-CN" altLang="en-US" sz="1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（PDR），对全院所有病人的用药情况进行统计分析和研究，通过药学专业化的数据治理，实现药占比变化及趋势分析、重点监控药物占比分析、用药监控结果分析、抗菌药物临床应用检测网上报、抗菌药物临床应用管理评价指标分析、 三级评审合理用药指标分析、国家抗肿瘤药物临床应用监测网报表上报、国家集采药品管理、突发应急药品管理、临床用药情况分析等。</a:t>
            </a:r>
            <a:endParaRPr lang="zh-CN" altLang="en-US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58" name="组合 57" descr="7b0a202020202274657874626f78223a2022220a7d0a"/>
          <p:cNvGrpSpPr/>
          <p:nvPr/>
        </p:nvGrpSpPr>
        <p:grpSpPr>
          <a:xfrm>
            <a:off x="6478905" y="996315"/>
            <a:ext cx="2399030" cy="2399030"/>
            <a:chOff x="7711" y="3511"/>
            <a:chExt cx="3778" cy="3778"/>
          </a:xfrm>
        </p:grpSpPr>
        <p:grpSp>
          <p:nvGrpSpPr>
            <p:cNvPr id="22" name="组合 21"/>
            <p:cNvGrpSpPr/>
            <p:nvPr/>
          </p:nvGrpSpPr>
          <p:grpSpPr>
            <a:xfrm rot="0">
              <a:off x="7711" y="3511"/>
              <a:ext cx="3778" cy="3778"/>
              <a:chOff x="4678363" y="2014538"/>
              <a:chExt cx="2835275" cy="2835275"/>
            </a:xfrm>
            <a:solidFill>
              <a:srgbClr val="01B4FF"/>
            </a:solidFill>
          </p:grpSpPr>
          <p:sp>
            <p:nvSpPr>
              <p:cNvPr id="23" name="Freeform 5"/>
              <p:cNvSpPr>
                <a:spLocks noEditPoints="1"/>
              </p:cNvSpPr>
              <p:nvPr/>
            </p:nvSpPr>
            <p:spPr bwMode="auto">
              <a:xfrm>
                <a:off x="4678363" y="2014538"/>
                <a:ext cx="2835275" cy="2835275"/>
              </a:xfrm>
              <a:custGeom>
                <a:avLst/>
                <a:gdLst>
                  <a:gd name="T0" fmla="*/ 376 w 753"/>
                  <a:gd name="T1" fmla="*/ 753 h 753"/>
                  <a:gd name="T2" fmla="*/ 0 w 753"/>
                  <a:gd name="T3" fmla="*/ 376 h 753"/>
                  <a:gd name="T4" fmla="*/ 376 w 753"/>
                  <a:gd name="T5" fmla="*/ 0 h 753"/>
                  <a:gd name="T6" fmla="*/ 753 w 753"/>
                  <a:gd name="T7" fmla="*/ 376 h 753"/>
                  <a:gd name="T8" fmla="*/ 376 w 753"/>
                  <a:gd name="T9" fmla="*/ 753 h 753"/>
                  <a:gd name="T10" fmla="*/ 376 w 753"/>
                  <a:gd name="T11" fmla="*/ 8 h 753"/>
                  <a:gd name="T12" fmla="*/ 8 w 753"/>
                  <a:gd name="T13" fmla="*/ 376 h 753"/>
                  <a:gd name="T14" fmla="*/ 376 w 753"/>
                  <a:gd name="T15" fmla="*/ 745 h 753"/>
                  <a:gd name="T16" fmla="*/ 745 w 753"/>
                  <a:gd name="T17" fmla="*/ 376 h 753"/>
                  <a:gd name="T18" fmla="*/ 376 w 753"/>
                  <a:gd name="T19" fmla="*/ 8 h 7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53" h="753">
                    <a:moveTo>
                      <a:pt x="376" y="753"/>
                    </a:moveTo>
                    <a:cubicBezTo>
                      <a:pt x="169" y="753"/>
                      <a:pt x="0" y="584"/>
                      <a:pt x="0" y="376"/>
                    </a:cubicBezTo>
                    <a:cubicBezTo>
                      <a:pt x="0" y="169"/>
                      <a:pt x="169" y="0"/>
                      <a:pt x="376" y="0"/>
                    </a:cubicBezTo>
                    <a:cubicBezTo>
                      <a:pt x="584" y="0"/>
                      <a:pt x="753" y="169"/>
                      <a:pt x="753" y="376"/>
                    </a:cubicBezTo>
                    <a:cubicBezTo>
                      <a:pt x="753" y="584"/>
                      <a:pt x="584" y="753"/>
                      <a:pt x="376" y="753"/>
                    </a:cubicBezTo>
                    <a:close/>
                    <a:moveTo>
                      <a:pt x="376" y="8"/>
                    </a:moveTo>
                    <a:cubicBezTo>
                      <a:pt x="173" y="8"/>
                      <a:pt x="8" y="173"/>
                      <a:pt x="8" y="376"/>
                    </a:cubicBezTo>
                    <a:cubicBezTo>
                      <a:pt x="8" y="579"/>
                      <a:pt x="173" y="745"/>
                      <a:pt x="376" y="745"/>
                    </a:cubicBezTo>
                    <a:cubicBezTo>
                      <a:pt x="580" y="745"/>
                      <a:pt x="745" y="579"/>
                      <a:pt x="745" y="376"/>
                    </a:cubicBezTo>
                    <a:cubicBezTo>
                      <a:pt x="745" y="173"/>
                      <a:pt x="580" y="8"/>
                      <a:pt x="376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7118351" y="3430588"/>
                <a:ext cx="263525" cy="760413"/>
              </a:xfrm>
              <a:custGeom>
                <a:avLst/>
                <a:gdLst>
                  <a:gd name="T0" fmla="*/ 0 w 70"/>
                  <a:gd name="T1" fmla="*/ 198 h 202"/>
                  <a:gd name="T2" fmla="*/ 28 w 70"/>
                  <a:gd name="T3" fmla="*/ 153 h 202"/>
                  <a:gd name="T4" fmla="*/ 48 w 70"/>
                  <a:gd name="T5" fmla="*/ 104 h 202"/>
                  <a:gd name="T6" fmla="*/ 60 w 70"/>
                  <a:gd name="T7" fmla="*/ 53 h 202"/>
                  <a:gd name="T8" fmla="*/ 65 w 70"/>
                  <a:gd name="T9" fmla="*/ 0 h 202"/>
                  <a:gd name="T10" fmla="*/ 70 w 70"/>
                  <a:gd name="T11" fmla="*/ 0 h 202"/>
                  <a:gd name="T12" fmla="*/ 66 w 70"/>
                  <a:gd name="T13" fmla="*/ 54 h 202"/>
                  <a:gd name="T14" fmla="*/ 53 w 70"/>
                  <a:gd name="T15" fmla="*/ 106 h 202"/>
                  <a:gd name="T16" fmla="*/ 33 w 70"/>
                  <a:gd name="T17" fmla="*/ 156 h 202"/>
                  <a:gd name="T18" fmla="*/ 5 w 70"/>
                  <a:gd name="T19" fmla="*/ 202 h 202"/>
                  <a:gd name="T20" fmla="*/ 0 w 70"/>
                  <a:gd name="T21" fmla="*/ 198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0" h="202">
                    <a:moveTo>
                      <a:pt x="0" y="198"/>
                    </a:moveTo>
                    <a:cubicBezTo>
                      <a:pt x="11" y="184"/>
                      <a:pt x="20" y="169"/>
                      <a:pt x="28" y="153"/>
                    </a:cubicBezTo>
                    <a:cubicBezTo>
                      <a:pt x="36" y="137"/>
                      <a:pt x="43" y="121"/>
                      <a:pt x="48" y="104"/>
                    </a:cubicBezTo>
                    <a:cubicBezTo>
                      <a:pt x="53" y="88"/>
                      <a:pt x="58" y="70"/>
                      <a:pt x="60" y="53"/>
                    </a:cubicBezTo>
                    <a:cubicBezTo>
                      <a:pt x="63" y="36"/>
                      <a:pt x="64" y="18"/>
                      <a:pt x="65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0" y="18"/>
                      <a:pt x="69" y="36"/>
                      <a:pt x="66" y="54"/>
                    </a:cubicBezTo>
                    <a:cubicBezTo>
                      <a:pt x="63" y="72"/>
                      <a:pt x="59" y="89"/>
                      <a:pt x="53" y="106"/>
                    </a:cubicBezTo>
                    <a:cubicBezTo>
                      <a:pt x="48" y="123"/>
                      <a:pt x="41" y="140"/>
                      <a:pt x="33" y="156"/>
                    </a:cubicBezTo>
                    <a:cubicBezTo>
                      <a:pt x="25" y="172"/>
                      <a:pt x="15" y="187"/>
                      <a:pt x="5" y="202"/>
                    </a:cubicBezTo>
                    <a:lnTo>
                      <a:pt x="0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8" name="Freeform 7"/>
              <p:cNvSpPr/>
              <p:nvPr/>
            </p:nvSpPr>
            <p:spPr bwMode="auto">
              <a:xfrm>
                <a:off x="6726238" y="4262438"/>
                <a:ext cx="339725" cy="282575"/>
              </a:xfrm>
              <a:custGeom>
                <a:avLst/>
                <a:gdLst>
                  <a:gd name="T0" fmla="*/ 0 w 90"/>
                  <a:gd name="T1" fmla="*/ 70 h 75"/>
                  <a:gd name="T2" fmla="*/ 46 w 90"/>
                  <a:gd name="T3" fmla="*/ 39 h 75"/>
                  <a:gd name="T4" fmla="*/ 86 w 90"/>
                  <a:gd name="T5" fmla="*/ 0 h 75"/>
                  <a:gd name="T6" fmla="*/ 90 w 90"/>
                  <a:gd name="T7" fmla="*/ 3 h 75"/>
                  <a:gd name="T8" fmla="*/ 50 w 90"/>
                  <a:gd name="T9" fmla="*/ 43 h 75"/>
                  <a:gd name="T10" fmla="*/ 3 w 90"/>
                  <a:gd name="T11" fmla="*/ 75 h 75"/>
                  <a:gd name="T12" fmla="*/ 0 w 90"/>
                  <a:gd name="T13" fmla="*/ 7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75">
                    <a:moveTo>
                      <a:pt x="0" y="70"/>
                    </a:moveTo>
                    <a:cubicBezTo>
                      <a:pt x="17" y="61"/>
                      <a:pt x="32" y="50"/>
                      <a:pt x="46" y="39"/>
                    </a:cubicBezTo>
                    <a:cubicBezTo>
                      <a:pt x="61" y="27"/>
                      <a:pt x="74" y="14"/>
                      <a:pt x="86" y="0"/>
                    </a:cubicBezTo>
                    <a:cubicBezTo>
                      <a:pt x="90" y="3"/>
                      <a:pt x="90" y="3"/>
                      <a:pt x="90" y="3"/>
                    </a:cubicBezTo>
                    <a:cubicBezTo>
                      <a:pt x="78" y="18"/>
                      <a:pt x="64" y="31"/>
                      <a:pt x="50" y="43"/>
                    </a:cubicBezTo>
                    <a:cubicBezTo>
                      <a:pt x="35" y="55"/>
                      <a:pt x="20" y="66"/>
                      <a:pt x="3" y="75"/>
                    </a:cubicBezTo>
                    <a:lnTo>
                      <a:pt x="0" y="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9" name="Freeform 8"/>
              <p:cNvSpPr>
                <a:spLocks noEditPoints="1"/>
              </p:cNvSpPr>
              <p:nvPr/>
            </p:nvSpPr>
            <p:spPr bwMode="auto">
              <a:xfrm>
                <a:off x="7065963" y="4160838"/>
                <a:ext cx="85725" cy="87313"/>
              </a:xfrm>
              <a:custGeom>
                <a:avLst/>
                <a:gdLst>
                  <a:gd name="T0" fmla="*/ 5 w 23"/>
                  <a:gd name="T1" fmla="*/ 19 h 23"/>
                  <a:gd name="T2" fmla="*/ 19 w 23"/>
                  <a:gd name="T3" fmla="*/ 17 h 23"/>
                  <a:gd name="T4" fmla="*/ 17 w 23"/>
                  <a:gd name="T5" fmla="*/ 3 h 23"/>
                  <a:gd name="T6" fmla="*/ 3 w 23"/>
                  <a:gd name="T7" fmla="*/ 5 h 23"/>
                  <a:gd name="T8" fmla="*/ 5 w 23"/>
                  <a:gd name="T9" fmla="*/ 19 h 23"/>
                  <a:gd name="T10" fmla="*/ 9 w 23"/>
                  <a:gd name="T11" fmla="*/ 15 h 23"/>
                  <a:gd name="T12" fmla="*/ 8 w 23"/>
                  <a:gd name="T13" fmla="*/ 9 h 23"/>
                  <a:gd name="T14" fmla="*/ 14 w 23"/>
                  <a:gd name="T15" fmla="*/ 8 h 23"/>
                  <a:gd name="T16" fmla="*/ 15 w 23"/>
                  <a:gd name="T17" fmla="*/ 14 h 23"/>
                  <a:gd name="T18" fmla="*/ 9 w 23"/>
                  <a:gd name="T19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3">
                    <a:moveTo>
                      <a:pt x="5" y="19"/>
                    </a:moveTo>
                    <a:cubicBezTo>
                      <a:pt x="9" y="23"/>
                      <a:pt x="16" y="22"/>
                      <a:pt x="19" y="17"/>
                    </a:cubicBezTo>
                    <a:cubicBezTo>
                      <a:pt x="23" y="13"/>
                      <a:pt x="22" y="6"/>
                      <a:pt x="17" y="3"/>
                    </a:cubicBezTo>
                    <a:cubicBezTo>
                      <a:pt x="13" y="0"/>
                      <a:pt x="7" y="1"/>
                      <a:pt x="3" y="5"/>
                    </a:cubicBezTo>
                    <a:cubicBezTo>
                      <a:pt x="0" y="9"/>
                      <a:pt x="1" y="16"/>
                      <a:pt x="5" y="19"/>
                    </a:cubicBezTo>
                    <a:close/>
                    <a:moveTo>
                      <a:pt x="9" y="15"/>
                    </a:moveTo>
                    <a:cubicBezTo>
                      <a:pt x="7" y="13"/>
                      <a:pt x="6" y="11"/>
                      <a:pt x="8" y="9"/>
                    </a:cubicBezTo>
                    <a:cubicBezTo>
                      <a:pt x="9" y="7"/>
                      <a:pt x="12" y="6"/>
                      <a:pt x="14" y="8"/>
                    </a:cubicBezTo>
                    <a:cubicBezTo>
                      <a:pt x="16" y="9"/>
                      <a:pt x="17" y="12"/>
                      <a:pt x="15" y="14"/>
                    </a:cubicBezTo>
                    <a:cubicBezTo>
                      <a:pt x="13" y="16"/>
                      <a:pt x="11" y="16"/>
                      <a:pt x="9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5957888" y="4525963"/>
                <a:ext cx="779463" cy="192088"/>
              </a:xfrm>
              <a:custGeom>
                <a:avLst/>
                <a:gdLst>
                  <a:gd name="T0" fmla="*/ 1 w 207"/>
                  <a:gd name="T1" fmla="*/ 43 h 51"/>
                  <a:gd name="T2" fmla="*/ 54 w 207"/>
                  <a:gd name="T3" fmla="*/ 45 h 51"/>
                  <a:gd name="T4" fmla="*/ 106 w 207"/>
                  <a:gd name="T5" fmla="*/ 38 h 51"/>
                  <a:gd name="T6" fmla="*/ 204 w 207"/>
                  <a:gd name="T7" fmla="*/ 0 h 51"/>
                  <a:gd name="T8" fmla="*/ 207 w 207"/>
                  <a:gd name="T9" fmla="*/ 5 h 51"/>
                  <a:gd name="T10" fmla="*/ 107 w 207"/>
                  <a:gd name="T11" fmla="*/ 44 h 51"/>
                  <a:gd name="T12" fmla="*/ 54 w 207"/>
                  <a:gd name="T13" fmla="*/ 51 h 51"/>
                  <a:gd name="T14" fmla="*/ 0 w 207"/>
                  <a:gd name="T15" fmla="*/ 49 h 51"/>
                  <a:gd name="T16" fmla="*/ 1 w 207"/>
                  <a:gd name="T17" fmla="*/ 4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7" h="51">
                    <a:moveTo>
                      <a:pt x="1" y="43"/>
                    </a:moveTo>
                    <a:cubicBezTo>
                      <a:pt x="18" y="45"/>
                      <a:pt x="36" y="46"/>
                      <a:pt x="54" y="45"/>
                    </a:cubicBezTo>
                    <a:cubicBezTo>
                      <a:pt x="71" y="44"/>
                      <a:pt x="89" y="42"/>
                      <a:pt x="106" y="38"/>
                    </a:cubicBezTo>
                    <a:cubicBezTo>
                      <a:pt x="141" y="31"/>
                      <a:pt x="174" y="18"/>
                      <a:pt x="204" y="0"/>
                    </a:cubicBezTo>
                    <a:cubicBezTo>
                      <a:pt x="207" y="5"/>
                      <a:pt x="207" y="5"/>
                      <a:pt x="207" y="5"/>
                    </a:cubicBezTo>
                    <a:cubicBezTo>
                      <a:pt x="176" y="23"/>
                      <a:pt x="142" y="36"/>
                      <a:pt x="107" y="44"/>
                    </a:cubicBezTo>
                    <a:cubicBezTo>
                      <a:pt x="90" y="47"/>
                      <a:pt x="72" y="50"/>
                      <a:pt x="54" y="51"/>
                    </a:cubicBezTo>
                    <a:cubicBezTo>
                      <a:pt x="36" y="51"/>
                      <a:pt x="18" y="51"/>
                      <a:pt x="0" y="49"/>
                    </a:cubicBezTo>
                    <a:lnTo>
                      <a:pt x="1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5454651" y="4525963"/>
                <a:ext cx="398463" cy="169863"/>
              </a:xfrm>
              <a:custGeom>
                <a:avLst/>
                <a:gdLst>
                  <a:gd name="T0" fmla="*/ 2 w 106"/>
                  <a:gd name="T1" fmla="*/ 0 h 45"/>
                  <a:gd name="T2" fmla="*/ 106 w 106"/>
                  <a:gd name="T3" fmla="*/ 39 h 45"/>
                  <a:gd name="T4" fmla="*/ 105 w 106"/>
                  <a:gd name="T5" fmla="*/ 45 h 45"/>
                  <a:gd name="T6" fmla="*/ 0 w 106"/>
                  <a:gd name="T7" fmla="*/ 5 h 45"/>
                  <a:gd name="T8" fmla="*/ 2 w 106"/>
                  <a:gd name="T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45">
                    <a:moveTo>
                      <a:pt x="2" y="0"/>
                    </a:moveTo>
                    <a:cubicBezTo>
                      <a:pt x="34" y="19"/>
                      <a:pt x="70" y="32"/>
                      <a:pt x="106" y="39"/>
                    </a:cubicBezTo>
                    <a:cubicBezTo>
                      <a:pt x="105" y="45"/>
                      <a:pt x="105" y="45"/>
                      <a:pt x="105" y="45"/>
                    </a:cubicBezTo>
                    <a:cubicBezTo>
                      <a:pt x="68" y="38"/>
                      <a:pt x="32" y="24"/>
                      <a:pt x="0" y="5"/>
                    </a:cubicBez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2" name="Freeform 11"/>
              <p:cNvSpPr>
                <a:spLocks noEditPoints="1"/>
              </p:cNvSpPr>
              <p:nvPr/>
            </p:nvSpPr>
            <p:spPr bwMode="auto">
              <a:xfrm>
                <a:off x="5891213" y="4654551"/>
                <a:ext cx="82550" cy="82550"/>
              </a:xfrm>
              <a:custGeom>
                <a:avLst/>
                <a:gdLst>
                  <a:gd name="T0" fmla="*/ 1 w 22"/>
                  <a:gd name="T1" fmla="*/ 9 h 22"/>
                  <a:gd name="T2" fmla="*/ 10 w 22"/>
                  <a:gd name="T3" fmla="*/ 21 h 22"/>
                  <a:gd name="T4" fmla="*/ 21 w 22"/>
                  <a:gd name="T5" fmla="*/ 12 h 22"/>
                  <a:gd name="T6" fmla="*/ 13 w 22"/>
                  <a:gd name="T7" fmla="*/ 1 h 22"/>
                  <a:gd name="T8" fmla="*/ 1 w 22"/>
                  <a:gd name="T9" fmla="*/ 9 h 22"/>
                  <a:gd name="T10" fmla="*/ 7 w 22"/>
                  <a:gd name="T11" fmla="*/ 10 h 22"/>
                  <a:gd name="T12" fmla="*/ 12 w 22"/>
                  <a:gd name="T13" fmla="*/ 6 h 22"/>
                  <a:gd name="T14" fmla="*/ 16 w 22"/>
                  <a:gd name="T15" fmla="*/ 11 h 22"/>
                  <a:gd name="T16" fmla="*/ 11 w 22"/>
                  <a:gd name="T17" fmla="*/ 15 h 22"/>
                  <a:gd name="T18" fmla="*/ 7 w 22"/>
                  <a:gd name="T19" fmla="*/ 1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" h="22">
                    <a:moveTo>
                      <a:pt x="1" y="9"/>
                    </a:moveTo>
                    <a:cubicBezTo>
                      <a:pt x="0" y="15"/>
                      <a:pt x="4" y="20"/>
                      <a:pt x="10" y="21"/>
                    </a:cubicBezTo>
                    <a:cubicBezTo>
                      <a:pt x="16" y="22"/>
                      <a:pt x="21" y="18"/>
                      <a:pt x="21" y="12"/>
                    </a:cubicBezTo>
                    <a:cubicBezTo>
                      <a:pt x="22" y="6"/>
                      <a:pt x="18" y="1"/>
                      <a:pt x="13" y="1"/>
                    </a:cubicBezTo>
                    <a:cubicBezTo>
                      <a:pt x="7" y="0"/>
                      <a:pt x="2" y="4"/>
                      <a:pt x="1" y="9"/>
                    </a:cubicBezTo>
                    <a:close/>
                    <a:moveTo>
                      <a:pt x="7" y="10"/>
                    </a:moveTo>
                    <a:cubicBezTo>
                      <a:pt x="7" y="8"/>
                      <a:pt x="9" y="6"/>
                      <a:pt x="12" y="6"/>
                    </a:cubicBezTo>
                    <a:cubicBezTo>
                      <a:pt x="14" y="7"/>
                      <a:pt x="16" y="9"/>
                      <a:pt x="16" y="11"/>
                    </a:cubicBezTo>
                    <a:cubicBezTo>
                      <a:pt x="15" y="14"/>
                      <a:pt x="13" y="15"/>
                      <a:pt x="11" y="15"/>
                    </a:cubicBezTo>
                    <a:cubicBezTo>
                      <a:pt x="8" y="15"/>
                      <a:pt x="7" y="13"/>
                      <a:pt x="7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Freeform 12"/>
              <p:cNvSpPr/>
              <p:nvPr/>
            </p:nvSpPr>
            <p:spPr bwMode="auto">
              <a:xfrm>
                <a:off x="4919663" y="3943351"/>
                <a:ext cx="541338" cy="601663"/>
              </a:xfrm>
              <a:custGeom>
                <a:avLst/>
                <a:gdLst>
                  <a:gd name="T0" fmla="*/ 5 w 144"/>
                  <a:gd name="T1" fmla="*/ 0 h 160"/>
                  <a:gd name="T2" fmla="*/ 17 w 144"/>
                  <a:gd name="T3" fmla="*/ 24 h 160"/>
                  <a:gd name="T4" fmla="*/ 30 w 144"/>
                  <a:gd name="T5" fmla="*/ 47 h 160"/>
                  <a:gd name="T6" fmla="*/ 62 w 144"/>
                  <a:gd name="T7" fmla="*/ 89 h 160"/>
                  <a:gd name="T8" fmla="*/ 144 w 144"/>
                  <a:gd name="T9" fmla="*/ 155 h 160"/>
                  <a:gd name="T10" fmla="*/ 142 w 144"/>
                  <a:gd name="T11" fmla="*/ 160 h 160"/>
                  <a:gd name="T12" fmla="*/ 58 w 144"/>
                  <a:gd name="T13" fmla="*/ 93 h 160"/>
                  <a:gd name="T14" fmla="*/ 26 w 144"/>
                  <a:gd name="T15" fmla="*/ 50 h 160"/>
                  <a:gd name="T16" fmla="*/ 12 w 144"/>
                  <a:gd name="T17" fmla="*/ 27 h 160"/>
                  <a:gd name="T18" fmla="*/ 0 w 144"/>
                  <a:gd name="T19" fmla="*/ 3 h 160"/>
                  <a:gd name="T20" fmla="*/ 5 w 144"/>
                  <a:gd name="T21" fmla="*/ 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4" h="160">
                    <a:moveTo>
                      <a:pt x="5" y="0"/>
                    </a:moveTo>
                    <a:cubicBezTo>
                      <a:pt x="9" y="9"/>
                      <a:pt x="13" y="16"/>
                      <a:pt x="17" y="24"/>
                    </a:cubicBezTo>
                    <a:cubicBezTo>
                      <a:pt x="21" y="32"/>
                      <a:pt x="25" y="40"/>
                      <a:pt x="30" y="47"/>
                    </a:cubicBezTo>
                    <a:cubicBezTo>
                      <a:pt x="40" y="62"/>
                      <a:pt x="51" y="76"/>
                      <a:pt x="62" y="89"/>
                    </a:cubicBezTo>
                    <a:cubicBezTo>
                      <a:pt x="86" y="115"/>
                      <a:pt x="114" y="138"/>
                      <a:pt x="144" y="155"/>
                    </a:cubicBezTo>
                    <a:cubicBezTo>
                      <a:pt x="142" y="160"/>
                      <a:pt x="142" y="160"/>
                      <a:pt x="142" y="160"/>
                    </a:cubicBezTo>
                    <a:cubicBezTo>
                      <a:pt x="110" y="142"/>
                      <a:pt x="82" y="119"/>
                      <a:pt x="58" y="93"/>
                    </a:cubicBezTo>
                    <a:cubicBezTo>
                      <a:pt x="46" y="79"/>
                      <a:pt x="35" y="65"/>
                      <a:pt x="26" y="50"/>
                    </a:cubicBezTo>
                    <a:cubicBezTo>
                      <a:pt x="21" y="43"/>
                      <a:pt x="16" y="35"/>
                      <a:pt x="12" y="27"/>
                    </a:cubicBezTo>
                    <a:cubicBezTo>
                      <a:pt x="8" y="19"/>
                      <a:pt x="3" y="11"/>
                      <a:pt x="0" y="3"/>
                    </a:cubicBez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27" name="Freeform 13"/>
              <p:cNvSpPr/>
              <p:nvPr/>
            </p:nvSpPr>
            <p:spPr bwMode="auto">
              <a:xfrm>
                <a:off x="4810126" y="3430588"/>
                <a:ext cx="90488" cy="422275"/>
              </a:xfrm>
              <a:custGeom>
                <a:avLst/>
                <a:gdLst>
                  <a:gd name="T0" fmla="*/ 5 w 24"/>
                  <a:gd name="T1" fmla="*/ 0 h 112"/>
                  <a:gd name="T2" fmla="*/ 24 w 24"/>
                  <a:gd name="T3" fmla="*/ 110 h 112"/>
                  <a:gd name="T4" fmla="*/ 18 w 24"/>
                  <a:gd name="T5" fmla="*/ 112 h 112"/>
                  <a:gd name="T6" fmla="*/ 0 w 24"/>
                  <a:gd name="T7" fmla="*/ 0 h 112"/>
                  <a:gd name="T8" fmla="*/ 5 w 24"/>
                  <a:gd name="T9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12">
                    <a:moveTo>
                      <a:pt x="5" y="0"/>
                    </a:moveTo>
                    <a:cubicBezTo>
                      <a:pt x="6" y="37"/>
                      <a:pt x="11" y="75"/>
                      <a:pt x="24" y="110"/>
                    </a:cubicBezTo>
                    <a:cubicBezTo>
                      <a:pt x="18" y="112"/>
                      <a:pt x="18" y="112"/>
                      <a:pt x="18" y="112"/>
                    </a:cubicBezTo>
                    <a:cubicBezTo>
                      <a:pt x="6" y="76"/>
                      <a:pt x="0" y="38"/>
                      <a:pt x="0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0" name="Freeform 14"/>
              <p:cNvSpPr>
                <a:spLocks noEditPoints="1"/>
              </p:cNvSpPr>
              <p:nvPr/>
            </p:nvSpPr>
            <p:spPr bwMode="auto">
              <a:xfrm>
                <a:off x="4878388" y="3878263"/>
                <a:ext cx="85725" cy="87313"/>
              </a:xfrm>
              <a:custGeom>
                <a:avLst/>
                <a:gdLst>
                  <a:gd name="T0" fmla="*/ 7 w 23"/>
                  <a:gd name="T1" fmla="*/ 2 h 23"/>
                  <a:gd name="T2" fmla="*/ 2 w 23"/>
                  <a:gd name="T3" fmla="*/ 16 h 23"/>
                  <a:gd name="T4" fmla="*/ 15 w 23"/>
                  <a:gd name="T5" fmla="*/ 21 h 23"/>
                  <a:gd name="T6" fmla="*/ 20 w 23"/>
                  <a:gd name="T7" fmla="*/ 8 h 23"/>
                  <a:gd name="T8" fmla="*/ 7 w 23"/>
                  <a:gd name="T9" fmla="*/ 2 h 23"/>
                  <a:gd name="T10" fmla="*/ 10 w 23"/>
                  <a:gd name="T11" fmla="*/ 8 h 23"/>
                  <a:gd name="T12" fmla="*/ 15 w 23"/>
                  <a:gd name="T13" fmla="*/ 10 h 23"/>
                  <a:gd name="T14" fmla="*/ 13 w 23"/>
                  <a:gd name="T15" fmla="*/ 16 h 23"/>
                  <a:gd name="T16" fmla="*/ 7 w 23"/>
                  <a:gd name="T17" fmla="*/ 13 h 23"/>
                  <a:gd name="T18" fmla="*/ 10 w 23"/>
                  <a:gd name="T19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3">
                    <a:moveTo>
                      <a:pt x="7" y="2"/>
                    </a:moveTo>
                    <a:cubicBezTo>
                      <a:pt x="2" y="4"/>
                      <a:pt x="0" y="10"/>
                      <a:pt x="2" y="16"/>
                    </a:cubicBezTo>
                    <a:cubicBezTo>
                      <a:pt x="4" y="21"/>
                      <a:pt x="10" y="23"/>
                      <a:pt x="15" y="21"/>
                    </a:cubicBezTo>
                    <a:cubicBezTo>
                      <a:pt x="20" y="19"/>
                      <a:pt x="23" y="13"/>
                      <a:pt x="20" y="8"/>
                    </a:cubicBezTo>
                    <a:cubicBezTo>
                      <a:pt x="18" y="3"/>
                      <a:pt x="13" y="0"/>
                      <a:pt x="7" y="2"/>
                    </a:cubicBezTo>
                    <a:close/>
                    <a:moveTo>
                      <a:pt x="10" y="8"/>
                    </a:moveTo>
                    <a:cubicBezTo>
                      <a:pt x="12" y="7"/>
                      <a:pt x="14" y="8"/>
                      <a:pt x="15" y="10"/>
                    </a:cubicBezTo>
                    <a:cubicBezTo>
                      <a:pt x="16" y="12"/>
                      <a:pt x="15" y="15"/>
                      <a:pt x="13" y="16"/>
                    </a:cubicBezTo>
                    <a:cubicBezTo>
                      <a:pt x="11" y="17"/>
                      <a:pt x="8" y="16"/>
                      <a:pt x="7" y="13"/>
                    </a:cubicBezTo>
                    <a:cubicBezTo>
                      <a:pt x="6" y="11"/>
                      <a:pt x="7" y="8"/>
                      <a:pt x="10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6" name="Freeform 15"/>
              <p:cNvSpPr/>
              <p:nvPr/>
            </p:nvSpPr>
            <p:spPr bwMode="auto">
              <a:xfrm>
                <a:off x="4810126" y="2673351"/>
                <a:ext cx="263525" cy="757238"/>
              </a:xfrm>
              <a:custGeom>
                <a:avLst/>
                <a:gdLst>
                  <a:gd name="T0" fmla="*/ 70 w 70"/>
                  <a:gd name="T1" fmla="*/ 3 h 201"/>
                  <a:gd name="T2" fmla="*/ 42 w 70"/>
                  <a:gd name="T3" fmla="*/ 48 h 201"/>
                  <a:gd name="T4" fmla="*/ 22 w 70"/>
                  <a:gd name="T5" fmla="*/ 97 h 201"/>
                  <a:gd name="T6" fmla="*/ 9 w 70"/>
                  <a:gd name="T7" fmla="*/ 149 h 201"/>
                  <a:gd name="T8" fmla="*/ 5 w 70"/>
                  <a:gd name="T9" fmla="*/ 201 h 201"/>
                  <a:gd name="T10" fmla="*/ 0 w 70"/>
                  <a:gd name="T11" fmla="*/ 201 h 201"/>
                  <a:gd name="T12" fmla="*/ 4 w 70"/>
                  <a:gd name="T13" fmla="*/ 148 h 201"/>
                  <a:gd name="T14" fmla="*/ 16 w 70"/>
                  <a:gd name="T15" fmla="*/ 95 h 201"/>
                  <a:gd name="T16" fmla="*/ 37 w 70"/>
                  <a:gd name="T17" fmla="*/ 46 h 201"/>
                  <a:gd name="T18" fmla="*/ 65 w 70"/>
                  <a:gd name="T19" fmla="*/ 0 h 201"/>
                  <a:gd name="T20" fmla="*/ 70 w 70"/>
                  <a:gd name="T21" fmla="*/ 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0" h="201">
                    <a:moveTo>
                      <a:pt x="70" y="3"/>
                    </a:moveTo>
                    <a:cubicBezTo>
                      <a:pt x="59" y="17"/>
                      <a:pt x="50" y="33"/>
                      <a:pt x="42" y="48"/>
                    </a:cubicBezTo>
                    <a:cubicBezTo>
                      <a:pt x="34" y="64"/>
                      <a:pt x="27" y="80"/>
                      <a:pt x="22" y="97"/>
                    </a:cubicBezTo>
                    <a:cubicBezTo>
                      <a:pt x="16" y="114"/>
                      <a:pt x="12" y="131"/>
                      <a:pt x="9" y="149"/>
                    </a:cubicBezTo>
                    <a:cubicBezTo>
                      <a:pt x="7" y="166"/>
                      <a:pt x="5" y="184"/>
                      <a:pt x="5" y="201"/>
                    </a:cubicBezTo>
                    <a:cubicBezTo>
                      <a:pt x="0" y="201"/>
                      <a:pt x="0" y="201"/>
                      <a:pt x="0" y="201"/>
                    </a:cubicBezTo>
                    <a:cubicBezTo>
                      <a:pt x="0" y="183"/>
                      <a:pt x="1" y="165"/>
                      <a:pt x="4" y="148"/>
                    </a:cubicBezTo>
                    <a:cubicBezTo>
                      <a:pt x="7" y="130"/>
                      <a:pt x="11" y="112"/>
                      <a:pt x="16" y="95"/>
                    </a:cubicBezTo>
                    <a:cubicBezTo>
                      <a:pt x="22" y="78"/>
                      <a:pt x="29" y="62"/>
                      <a:pt x="37" y="46"/>
                    </a:cubicBezTo>
                    <a:cubicBezTo>
                      <a:pt x="45" y="30"/>
                      <a:pt x="55" y="14"/>
                      <a:pt x="65" y="0"/>
                    </a:cubicBezTo>
                    <a:lnTo>
                      <a:pt x="7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31" name="Freeform 16"/>
              <p:cNvSpPr/>
              <p:nvPr/>
            </p:nvSpPr>
            <p:spPr bwMode="auto">
              <a:xfrm>
                <a:off x="5126038" y="2316163"/>
                <a:ext cx="334963" cy="285750"/>
              </a:xfrm>
              <a:custGeom>
                <a:avLst/>
                <a:gdLst>
                  <a:gd name="T0" fmla="*/ 89 w 89"/>
                  <a:gd name="T1" fmla="*/ 5 h 76"/>
                  <a:gd name="T2" fmla="*/ 44 w 89"/>
                  <a:gd name="T3" fmla="*/ 37 h 76"/>
                  <a:gd name="T4" fmla="*/ 4 w 89"/>
                  <a:gd name="T5" fmla="*/ 76 h 76"/>
                  <a:gd name="T6" fmla="*/ 0 w 89"/>
                  <a:gd name="T7" fmla="*/ 72 h 76"/>
                  <a:gd name="T8" fmla="*/ 40 w 89"/>
                  <a:gd name="T9" fmla="*/ 32 h 76"/>
                  <a:gd name="T10" fmla="*/ 87 w 89"/>
                  <a:gd name="T11" fmla="*/ 0 h 76"/>
                  <a:gd name="T12" fmla="*/ 89 w 89"/>
                  <a:gd name="T13" fmla="*/ 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9" h="76">
                    <a:moveTo>
                      <a:pt x="89" y="5"/>
                    </a:moveTo>
                    <a:cubicBezTo>
                      <a:pt x="73" y="14"/>
                      <a:pt x="58" y="25"/>
                      <a:pt x="44" y="37"/>
                    </a:cubicBezTo>
                    <a:cubicBezTo>
                      <a:pt x="29" y="49"/>
                      <a:pt x="16" y="62"/>
                      <a:pt x="4" y="76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12" y="58"/>
                      <a:pt x="25" y="45"/>
                      <a:pt x="40" y="32"/>
                    </a:cubicBezTo>
                    <a:cubicBezTo>
                      <a:pt x="55" y="21"/>
                      <a:pt x="70" y="10"/>
                      <a:pt x="87" y="0"/>
                    </a:cubicBezTo>
                    <a:lnTo>
                      <a:pt x="89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47" name="Freeform 17"/>
              <p:cNvSpPr>
                <a:spLocks noEditPoints="1"/>
              </p:cNvSpPr>
              <p:nvPr/>
            </p:nvSpPr>
            <p:spPr bwMode="auto">
              <a:xfrm>
                <a:off x="5040313" y="2617788"/>
                <a:ext cx="85725" cy="85725"/>
              </a:xfrm>
              <a:custGeom>
                <a:avLst/>
                <a:gdLst>
                  <a:gd name="T0" fmla="*/ 18 w 23"/>
                  <a:gd name="T1" fmla="*/ 3 h 23"/>
                  <a:gd name="T2" fmla="*/ 3 w 23"/>
                  <a:gd name="T3" fmla="*/ 5 h 23"/>
                  <a:gd name="T4" fmla="*/ 5 w 23"/>
                  <a:gd name="T5" fmla="*/ 19 h 23"/>
                  <a:gd name="T6" fmla="*/ 19 w 23"/>
                  <a:gd name="T7" fmla="*/ 17 h 23"/>
                  <a:gd name="T8" fmla="*/ 18 w 23"/>
                  <a:gd name="T9" fmla="*/ 3 h 23"/>
                  <a:gd name="T10" fmla="*/ 14 w 23"/>
                  <a:gd name="T11" fmla="*/ 8 h 23"/>
                  <a:gd name="T12" fmla="*/ 15 w 23"/>
                  <a:gd name="T13" fmla="*/ 14 h 23"/>
                  <a:gd name="T14" fmla="*/ 9 w 23"/>
                  <a:gd name="T15" fmla="*/ 15 h 23"/>
                  <a:gd name="T16" fmla="*/ 8 w 23"/>
                  <a:gd name="T17" fmla="*/ 8 h 23"/>
                  <a:gd name="T18" fmla="*/ 14 w 23"/>
                  <a:gd name="T19" fmla="*/ 8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3">
                    <a:moveTo>
                      <a:pt x="18" y="3"/>
                    </a:moveTo>
                    <a:cubicBezTo>
                      <a:pt x="13" y="0"/>
                      <a:pt x="7" y="0"/>
                      <a:pt x="3" y="5"/>
                    </a:cubicBezTo>
                    <a:cubicBezTo>
                      <a:pt x="0" y="10"/>
                      <a:pt x="1" y="16"/>
                      <a:pt x="5" y="19"/>
                    </a:cubicBezTo>
                    <a:cubicBezTo>
                      <a:pt x="10" y="23"/>
                      <a:pt x="16" y="21"/>
                      <a:pt x="19" y="17"/>
                    </a:cubicBezTo>
                    <a:cubicBezTo>
                      <a:pt x="23" y="13"/>
                      <a:pt x="22" y="7"/>
                      <a:pt x="18" y="3"/>
                    </a:cubicBezTo>
                    <a:close/>
                    <a:moveTo>
                      <a:pt x="14" y="8"/>
                    </a:moveTo>
                    <a:cubicBezTo>
                      <a:pt x="16" y="9"/>
                      <a:pt x="16" y="12"/>
                      <a:pt x="15" y="14"/>
                    </a:cubicBezTo>
                    <a:cubicBezTo>
                      <a:pt x="13" y="16"/>
                      <a:pt x="11" y="16"/>
                      <a:pt x="9" y="15"/>
                    </a:cubicBezTo>
                    <a:cubicBezTo>
                      <a:pt x="7" y="13"/>
                      <a:pt x="6" y="10"/>
                      <a:pt x="8" y="8"/>
                    </a:cubicBezTo>
                    <a:cubicBezTo>
                      <a:pt x="9" y="6"/>
                      <a:pt x="12" y="6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48" name="Freeform 18"/>
              <p:cNvSpPr/>
              <p:nvPr/>
            </p:nvSpPr>
            <p:spPr bwMode="auto">
              <a:xfrm>
                <a:off x="5454651" y="2143126"/>
                <a:ext cx="779463" cy="192088"/>
              </a:xfrm>
              <a:custGeom>
                <a:avLst/>
                <a:gdLst>
                  <a:gd name="T0" fmla="*/ 206 w 207"/>
                  <a:gd name="T1" fmla="*/ 8 h 51"/>
                  <a:gd name="T2" fmla="*/ 153 w 207"/>
                  <a:gd name="T3" fmla="*/ 7 h 51"/>
                  <a:gd name="T4" fmla="*/ 101 w 207"/>
                  <a:gd name="T5" fmla="*/ 13 h 51"/>
                  <a:gd name="T6" fmla="*/ 2 w 207"/>
                  <a:gd name="T7" fmla="*/ 51 h 51"/>
                  <a:gd name="T8" fmla="*/ 0 w 207"/>
                  <a:gd name="T9" fmla="*/ 46 h 51"/>
                  <a:gd name="T10" fmla="*/ 100 w 207"/>
                  <a:gd name="T11" fmla="*/ 8 h 51"/>
                  <a:gd name="T12" fmla="*/ 153 w 207"/>
                  <a:gd name="T13" fmla="*/ 1 h 51"/>
                  <a:gd name="T14" fmla="*/ 207 w 207"/>
                  <a:gd name="T15" fmla="*/ 2 h 51"/>
                  <a:gd name="T16" fmla="*/ 206 w 207"/>
                  <a:gd name="T17" fmla="*/ 8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7" h="51">
                    <a:moveTo>
                      <a:pt x="206" y="8"/>
                    </a:moveTo>
                    <a:cubicBezTo>
                      <a:pt x="188" y="6"/>
                      <a:pt x="171" y="6"/>
                      <a:pt x="153" y="7"/>
                    </a:cubicBezTo>
                    <a:cubicBezTo>
                      <a:pt x="136" y="8"/>
                      <a:pt x="118" y="10"/>
                      <a:pt x="101" y="13"/>
                    </a:cubicBezTo>
                    <a:cubicBezTo>
                      <a:pt x="66" y="21"/>
                      <a:pt x="33" y="33"/>
                      <a:pt x="2" y="5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31" y="28"/>
                      <a:pt x="65" y="15"/>
                      <a:pt x="100" y="8"/>
                    </a:cubicBezTo>
                    <a:cubicBezTo>
                      <a:pt x="117" y="4"/>
                      <a:pt x="135" y="2"/>
                      <a:pt x="153" y="1"/>
                    </a:cubicBezTo>
                    <a:cubicBezTo>
                      <a:pt x="171" y="0"/>
                      <a:pt x="189" y="1"/>
                      <a:pt x="207" y="2"/>
                    </a:cubicBezTo>
                    <a:lnTo>
                      <a:pt x="206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49" name="Freeform 19"/>
              <p:cNvSpPr/>
              <p:nvPr/>
            </p:nvSpPr>
            <p:spPr bwMode="auto">
              <a:xfrm>
                <a:off x="6338888" y="2170113"/>
                <a:ext cx="398463" cy="165100"/>
              </a:xfrm>
              <a:custGeom>
                <a:avLst/>
                <a:gdLst>
                  <a:gd name="T0" fmla="*/ 103 w 106"/>
                  <a:gd name="T1" fmla="*/ 44 h 44"/>
                  <a:gd name="T2" fmla="*/ 0 w 106"/>
                  <a:gd name="T3" fmla="*/ 5 h 44"/>
                  <a:gd name="T4" fmla="*/ 1 w 106"/>
                  <a:gd name="T5" fmla="*/ 0 h 44"/>
                  <a:gd name="T6" fmla="*/ 106 w 106"/>
                  <a:gd name="T7" fmla="*/ 39 h 44"/>
                  <a:gd name="T8" fmla="*/ 103 w 106"/>
                  <a:gd name="T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" h="44">
                    <a:moveTo>
                      <a:pt x="103" y="44"/>
                    </a:moveTo>
                    <a:cubicBezTo>
                      <a:pt x="71" y="25"/>
                      <a:pt x="36" y="12"/>
                      <a:pt x="0" y="5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8" y="7"/>
                      <a:pt x="74" y="20"/>
                      <a:pt x="106" y="39"/>
                    </a:cubicBezTo>
                    <a:lnTo>
                      <a:pt x="103" y="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50" name="Freeform 20"/>
              <p:cNvSpPr>
                <a:spLocks noEditPoints="1"/>
              </p:cNvSpPr>
              <p:nvPr/>
            </p:nvSpPr>
            <p:spPr bwMode="auto">
              <a:xfrm>
                <a:off x="6218238" y="2127251"/>
                <a:ext cx="82550" cy="79375"/>
              </a:xfrm>
              <a:custGeom>
                <a:avLst/>
                <a:gdLst>
                  <a:gd name="T0" fmla="*/ 21 w 22"/>
                  <a:gd name="T1" fmla="*/ 12 h 21"/>
                  <a:gd name="T2" fmla="*/ 12 w 22"/>
                  <a:gd name="T3" fmla="*/ 1 h 21"/>
                  <a:gd name="T4" fmla="*/ 0 w 22"/>
                  <a:gd name="T5" fmla="*/ 10 h 21"/>
                  <a:gd name="T6" fmla="*/ 9 w 22"/>
                  <a:gd name="T7" fmla="*/ 21 h 21"/>
                  <a:gd name="T8" fmla="*/ 21 w 22"/>
                  <a:gd name="T9" fmla="*/ 12 h 21"/>
                  <a:gd name="T10" fmla="*/ 15 w 22"/>
                  <a:gd name="T11" fmla="*/ 11 h 21"/>
                  <a:gd name="T12" fmla="*/ 10 w 22"/>
                  <a:gd name="T13" fmla="*/ 15 h 21"/>
                  <a:gd name="T14" fmla="*/ 6 w 22"/>
                  <a:gd name="T15" fmla="*/ 10 h 21"/>
                  <a:gd name="T16" fmla="*/ 11 w 22"/>
                  <a:gd name="T17" fmla="*/ 6 h 21"/>
                  <a:gd name="T18" fmla="*/ 15 w 22"/>
                  <a:gd name="T19" fmla="*/ 1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" h="21">
                    <a:moveTo>
                      <a:pt x="21" y="12"/>
                    </a:moveTo>
                    <a:cubicBezTo>
                      <a:pt x="22" y="7"/>
                      <a:pt x="18" y="1"/>
                      <a:pt x="12" y="1"/>
                    </a:cubicBezTo>
                    <a:cubicBezTo>
                      <a:pt x="6" y="0"/>
                      <a:pt x="1" y="4"/>
                      <a:pt x="0" y="10"/>
                    </a:cubicBezTo>
                    <a:cubicBezTo>
                      <a:pt x="0" y="15"/>
                      <a:pt x="4" y="20"/>
                      <a:pt x="9" y="21"/>
                    </a:cubicBezTo>
                    <a:cubicBezTo>
                      <a:pt x="15" y="21"/>
                      <a:pt x="20" y="18"/>
                      <a:pt x="21" y="12"/>
                    </a:cubicBezTo>
                    <a:close/>
                    <a:moveTo>
                      <a:pt x="15" y="11"/>
                    </a:moveTo>
                    <a:cubicBezTo>
                      <a:pt x="15" y="14"/>
                      <a:pt x="12" y="15"/>
                      <a:pt x="10" y="15"/>
                    </a:cubicBezTo>
                    <a:cubicBezTo>
                      <a:pt x="8" y="15"/>
                      <a:pt x="6" y="13"/>
                      <a:pt x="6" y="10"/>
                    </a:cubicBezTo>
                    <a:cubicBezTo>
                      <a:pt x="6" y="8"/>
                      <a:pt x="9" y="6"/>
                      <a:pt x="11" y="6"/>
                    </a:cubicBezTo>
                    <a:cubicBezTo>
                      <a:pt x="14" y="7"/>
                      <a:pt x="15" y="9"/>
                      <a:pt x="1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51" name="Freeform 21"/>
              <p:cNvSpPr/>
              <p:nvPr/>
            </p:nvSpPr>
            <p:spPr bwMode="auto">
              <a:xfrm>
                <a:off x="6726238" y="2316163"/>
                <a:ext cx="546100" cy="603250"/>
              </a:xfrm>
              <a:custGeom>
                <a:avLst/>
                <a:gdLst>
                  <a:gd name="T0" fmla="*/ 140 w 145"/>
                  <a:gd name="T1" fmla="*/ 160 h 160"/>
                  <a:gd name="T2" fmla="*/ 128 w 145"/>
                  <a:gd name="T3" fmla="*/ 136 h 160"/>
                  <a:gd name="T4" fmla="*/ 114 w 145"/>
                  <a:gd name="T5" fmla="*/ 114 h 160"/>
                  <a:gd name="T6" fmla="*/ 82 w 145"/>
                  <a:gd name="T7" fmla="*/ 72 h 160"/>
                  <a:gd name="T8" fmla="*/ 0 w 145"/>
                  <a:gd name="T9" fmla="*/ 5 h 160"/>
                  <a:gd name="T10" fmla="*/ 3 w 145"/>
                  <a:gd name="T11" fmla="*/ 0 h 160"/>
                  <a:gd name="T12" fmla="*/ 87 w 145"/>
                  <a:gd name="T13" fmla="*/ 68 h 160"/>
                  <a:gd name="T14" fmla="*/ 119 w 145"/>
                  <a:gd name="T15" fmla="*/ 110 h 160"/>
                  <a:gd name="T16" fmla="*/ 133 w 145"/>
                  <a:gd name="T17" fmla="*/ 134 h 160"/>
                  <a:gd name="T18" fmla="*/ 145 w 145"/>
                  <a:gd name="T19" fmla="*/ 158 h 160"/>
                  <a:gd name="T20" fmla="*/ 140 w 145"/>
                  <a:gd name="T21" fmla="*/ 160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" h="160">
                    <a:moveTo>
                      <a:pt x="140" y="160"/>
                    </a:moveTo>
                    <a:cubicBezTo>
                      <a:pt x="136" y="152"/>
                      <a:pt x="132" y="144"/>
                      <a:pt x="128" y="136"/>
                    </a:cubicBezTo>
                    <a:cubicBezTo>
                      <a:pt x="124" y="129"/>
                      <a:pt x="119" y="121"/>
                      <a:pt x="114" y="114"/>
                    </a:cubicBezTo>
                    <a:cubicBezTo>
                      <a:pt x="105" y="99"/>
                      <a:pt x="94" y="85"/>
                      <a:pt x="82" y="72"/>
                    </a:cubicBezTo>
                    <a:cubicBezTo>
                      <a:pt x="59" y="45"/>
                      <a:pt x="31" y="23"/>
                      <a:pt x="0" y="5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4" y="18"/>
                      <a:pt x="62" y="41"/>
                      <a:pt x="87" y="68"/>
                    </a:cubicBezTo>
                    <a:cubicBezTo>
                      <a:pt x="99" y="81"/>
                      <a:pt x="109" y="95"/>
                      <a:pt x="119" y="110"/>
                    </a:cubicBezTo>
                    <a:cubicBezTo>
                      <a:pt x="124" y="118"/>
                      <a:pt x="129" y="126"/>
                      <a:pt x="133" y="134"/>
                    </a:cubicBezTo>
                    <a:cubicBezTo>
                      <a:pt x="137" y="141"/>
                      <a:pt x="141" y="149"/>
                      <a:pt x="145" y="158"/>
                    </a:cubicBezTo>
                    <a:lnTo>
                      <a:pt x="140" y="1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52" name="Freeform 22"/>
              <p:cNvSpPr/>
              <p:nvPr/>
            </p:nvSpPr>
            <p:spPr bwMode="auto">
              <a:xfrm>
                <a:off x="7291388" y="3013076"/>
                <a:ext cx="90488" cy="417513"/>
              </a:xfrm>
              <a:custGeom>
                <a:avLst/>
                <a:gdLst>
                  <a:gd name="T0" fmla="*/ 19 w 24"/>
                  <a:gd name="T1" fmla="*/ 111 h 111"/>
                  <a:gd name="T2" fmla="*/ 0 w 24"/>
                  <a:gd name="T3" fmla="*/ 2 h 111"/>
                  <a:gd name="T4" fmla="*/ 6 w 24"/>
                  <a:gd name="T5" fmla="*/ 0 h 111"/>
                  <a:gd name="T6" fmla="*/ 24 w 24"/>
                  <a:gd name="T7" fmla="*/ 111 h 111"/>
                  <a:gd name="T8" fmla="*/ 19 w 24"/>
                  <a:gd name="T9" fmla="*/ 1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11">
                    <a:moveTo>
                      <a:pt x="19" y="111"/>
                    </a:moveTo>
                    <a:cubicBezTo>
                      <a:pt x="18" y="74"/>
                      <a:pt x="13" y="37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8" y="36"/>
                      <a:pt x="24" y="73"/>
                      <a:pt x="24" y="111"/>
                    </a:cubicBezTo>
                    <a:lnTo>
                      <a:pt x="19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53" name="Freeform 23"/>
              <p:cNvSpPr>
                <a:spLocks noEditPoints="1"/>
              </p:cNvSpPr>
              <p:nvPr/>
            </p:nvSpPr>
            <p:spPr bwMode="auto">
              <a:xfrm>
                <a:off x="7227888" y="2895601"/>
                <a:ext cx="85725" cy="87313"/>
              </a:xfrm>
              <a:custGeom>
                <a:avLst/>
                <a:gdLst>
                  <a:gd name="T0" fmla="*/ 15 w 23"/>
                  <a:gd name="T1" fmla="*/ 21 h 23"/>
                  <a:gd name="T2" fmla="*/ 21 w 23"/>
                  <a:gd name="T3" fmla="*/ 8 h 23"/>
                  <a:gd name="T4" fmla="*/ 8 w 23"/>
                  <a:gd name="T5" fmla="*/ 2 h 23"/>
                  <a:gd name="T6" fmla="*/ 2 w 23"/>
                  <a:gd name="T7" fmla="*/ 16 h 23"/>
                  <a:gd name="T8" fmla="*/ 15 w 23"/>
                  <a:gd name="T9" fmla="*/ 21 h 23"/>
                  <a:gd name="T10" fmla="*/ 13 w 23"/>
                  <a:gd name="T11" fmla="*/ 16 h 23"/>
                  <a:gd name="T12" fmla="*/ 8 w 23"/>
                  <a:gd name="T13" fmla="*/ 13 h 23"/>
                  <a:gd name="T14" fmla="*/ 10 w 23"/>
                  <a:gd name="T15" fmla="*/ 8 h 23"/>
                  <a:gd name="T16" fmla="*/ 16 w 23"/>
                  <a:gd name="T17" fmla="*/ 10 h 23"/>
                  <a:gd name="T18" fmla="*/ 13 w 23"/>
                  <a:gd name="T19" fmla="*/ 1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3" h="23">
                    <a:moveTo>
                      <a:pt x="15" y="21"/>
                    </a:moveTo>
                    <a:cubicBezTo>
                      <a:pt x="21" y="19"/>
                      <a:pt x="23" y="13"/>
                      <a:pt x="21" y="8"/>
                    </a:cubicBezTo>
                    <a:cubicBezTo>
                      <a:pt x="19" y="3"/>
                      <a:pt x="13" y="0"/>
                      <a:pt x="8" y="2"/>
                    </a:cubicBezTo>
                    <a:cubicBezTo>
                      <a:pt x="2" y="5"/>
                      <a:pt x="0" y="11"/>
                      <a:pt x="2" y="16"/>
                    </a:cubicBezTo>
                    <a:cubicBezTo>
                      <a:pt x="4" y="21"/>
                      <a:pt x="10" y="23"/>
                      <a:pt x="15" y="21"/>
                    </a:cubicBezTo>
                    <a:close/>
                    <a:moveTo>
                      <a:pt x="13" y="16"/>
                    </a:moveTo>
                    <a:cubicBezTo>
                      <a:pt x="11" y="17"/>
                      <a:pt x="8" y="16"/>
                      <a:pt x="8" y="13"/>
                    </a:cubicBezTo>
                    <a:cubicBezTo>
                      <a:pt x="7" y="11"/>
                      <a:pt x="8" y="9"/>
                      <a:pt x="10" y="8"/>
                    </a:cubicBezTo>
                    <a:cubicBezTo>
                      <a:pt x="12" y="7"/>
                      <a:pt x="15" y="8"/>
                      <a:pt x="16" y="10"/>
                    </a:cubicBezTo>
                    <a:cubicBezTo>
                      <a:pt x="17" y="12"/>
                      <a:pt x="16" y="15"/>
                      <a:pt x="13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scene3d>
                  <a:camera prst="orthographicFront"/>
                  <a:lightRig rig="threePt" dir="t"/>
                </a:scene3d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4" name="矩形 53"/>
            <p:cNvSpPr/>
            <p:nvPr/>
          </p:nvSpPr>
          <p:spPr>
            <a:xfrm>
              <a:off x="7841" y="3858"/>
              <a:ext cx="3519" cy="3144"/>
            </a:xfrm>
            <a:prstGeom prst="rect">
              <a:avLst/>
            </a:prstGeom>
          </p:spPr>
          <p:txBody>
            <a:bodyPr vert="eaVert" wrap="none" anchor="ctr">
              <a:spAutoFit/>
              <a:scene3d>
                <a:camera prst="orthographicFront"/>
                <a:lightRig rig="threePt" dir="t"/>
              </a:scene3d>
            </a:bodyPr>
            <a:p>
              <a:pPr algn="ctr"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晓波敦黑简" panose="00020600040101010101" charset="-122"/>
                <a:sym typeface="+mn-ea"/>
              </a:endParaRPr>
            </a:p>
            <a:p>
              <a:pPr algn="ctr"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00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汉仪晓波敦黑简" panose="00020600040101010101" charset="-122"/>
                  <a:sym typeface="+mn-ea"/>
                </a:rPr>
                <a:t>指标文件</a:t>
              </a:r>
              <a:endPara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晓波敦黑简" panose="00020600040101010101" charset="-122"/>
                <a:sym typeface="+mn-ea"/>
              </a:endParaRPr>
            </a:p>
            <a:p>
              <a:pPr algn="ctr"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00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ea typeface="汉仪晓波敦黑简" panose="00020600040101010101" charset="-122"/>
                  <a:sym typeface="+mn-ea"/>
                </a:rPr>
                <a:t>卫健委最新</a:t>
              </a:r>
              <a:endPara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晓波敦黑简" panose="00020600040101010101" charset="-122"/>
                <a:sym typeface="+mn-ea"/>
              </a:endParaRPr>
            </a:p>
            <a:p>
              <a:pPr algn="ctr" fontAlgn="auto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汉仪晓波敦黑简" panose="00020600040101010101" charset="-122"/>
                <a:sym typeface="+mn-ea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3787775" y="792480"/>
            <a:ext cx="40640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Box 4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医院药学平台</a:t>
            </a:r>
            <a:r>
              <a:rPr lang="en-US" altLang="zh-CN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建设目标</a:t>
            </a:r>
            <a:endParaRPr lang="zh-CN" altLang="en-US" sz="2800" b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椭圆 223"/>
          <p:cNvSpPr/>
          <p:nvPr>
            <p:custDataLst>
              <p:tags r:id="rId2"/>
            </p:custDataLst>
          </p:nvPr>
        </p:nvSpPr>
        <p:spPr bwMode="auto">
          <a:xfrm>
            <a:off x="455271" y="-2280022"/>
            <a:ext cx="11281458" cy="11281458"/>
          </a:xfrm>
          <a:prstGeom prst="ellipse">
            <a:avLst/>
          </a:prstGeom>
          <a:noFill/>
          <a:ln w="6350" cap="flat" cmpd="sng" algn="ctr">
            <a:gradFill>
              <a:gsLst>
                <a:gs pos="51300">
                  <a:srgbClr val="FFFFFF">
                    <a:alpha val="67000"/>
                  </a:srgbClr>
                </a:gs>
                <a:gs pos="81000">
                  <a:schemeClr val="bg1">
                    <a:alpha val="0"/>
                  </a:schemeClr>
                </a:gs>
                <a:gs pos="18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sm" len="sm"/>
            <a:tailEnd type="arrow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2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5166231" y="3144056"/>
            <a:ext cx="1609982" cy="1609982"/>
          </a:xfrm>
          <a:prstGeom prst="ellipse">
            <a:avLst/>
          </a:prstGeom>
          <a:noFill/>
          <a:ln>
            <a:solidFill>
              <a:srgbClr val="6096E6"/>
            </a:soli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5340401" y="3318225"/>
            <a:ext cx="1261642" cy="1262187"/>
          </a:xfrm>
          <a:prstGeom prst="ellipse">
            <a:avLst/>
          </a:prstGeom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343435383037343b343532333833373bb9abcbb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1047" y="3609960"/>
            <a:ext cx="678718" cy="678718"/>
          </a:xfrm>
          <a:prstGeom prst="rect">
            <a:avLst/>
          </a:prstGeom>
        </p:spPr>
      </p:pic>
      <p:sp>
        <p:nvSpPr>
          <p:cNvPr id="12" name="椭圆 11"/>
          <p:cNvSpPr/>
          <p:nvPr>
            <p:custDataLst>
              <p:tags r:id="rId8"/>
            </p:custDataLst>
          </p:nvPr>
        </p:nvSpPr>
        <p:spPr>
          <a:xfrm>
            <a:off x="4700872" y="2679784"/>
            <a:ext cx="2539613" cy="2539613"/>
          </a:xfrm>
          <a:prstGeom prst="ellipse">
            <a:avLst/>
          </a:prstGeom>
          <a:noFill/>
          <a:ln>
            <a:gradFill>
              <a:gsLst>
                <a:gs pos="81000">
                  <a:srgbClr val="FFFFFF"/>
                </a:gs>
                <a:gs pos="19000">
                  <a:srgbClr val="FFFFFF"/>
                </a:gs>
                <a:gs pos="0">
                  <a:srgbClr val="58B6E5"/>
                </a:gs>
                <a:gs pos="100000">
                  <a:srgbClr val="58B6E5"/>
                </a:gs>
              </a:gsLst>
              <a:lin ang="0" scaled="1"/>
            </a:gra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燕尾形 7"/>
          <p:cNvSpPr/>
          <p:nvPr>
            <p:custDataLst>
              <p:tags r:id="rId9"/>
            </p:custDataLst>
          </p:nvPr>
        </p:nvSpPr>
        <p:spPr>
          <a:xfrm>
            <a:off x="1506489" y="1990725"/>
            <a:ext cx="3393045" cy="1002021"/>
          </a:xfrm>
          <a:prstGeom prst="chevron">
            <a:avLst/>
          </a:prstGeom>
          <a:noFill/>
          <a:ln>
            <a:gradFill>
              <a:gsLst>
                <a:gs pos="0">
                  <a:srgbClr val="FFFFFF"/>
                </a:gs>
                <a:gs pos="100000">
                  <a:srgbClr val="6096E6">
                    <a:lumMod val="40000"/>
                    <a:lumOff val="60000"/>
                  </a:srgbClr>
                </a:gs>
              </a:gsLst>
              <a:lin ang="0" scaled="1"/>
            </a:gra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燕尾形 12"/>
          <p:cNvSpPr/>
          <p:nvPr>
            <p:custDataLst>
              <p:tags r:id="rId10"/>
            </p:custDataLst>
          </p:nvPr>
        </p:nvSpPr>
        <p:spPr>
          <a:xfrm>
            <a:off x="1506489" y="1990725"/>
            <a:ext cx="3267861" cy="1002021"/>
          </a:xfrm>
          <a:prstGeom prst="chevron">
            <a:avLst/>
          </a:prstGeom>
          <a:gradFill>
            <a:gsLst>
              <a:gs pos="0">
                <a:srgbClr val="6096E6">
                  <a:lumMod val="20000"/>
                  <a:lumOff val="80000"/>
                  <a:alpha val="0"/>
                </a:srgbClr>
              </a:gs>
              <a:gs pos="100000">
                <a:srgbClr val="6096E6">
                  <a:lumMod val="20000"/>
                  <a:lumOff val="80000"/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燕尾形 83"/>
          <p:cNvSpPr/>
          <p:nvPr>
            <p:custDataLst>
              <p:tags r:id="rId11"/>
            </p:custDataLst>
          </p:nvPr>
        </p:nvSpPr>
        <p:spPr>
          <a:xfrm>
            <a:off x="1123315" y="3829305"/>
            <a:ext cx="3393045" cy="1002021"/>
          </a:xfrm>
          <a:prstGeom prst="chevron">
            <a:avLst/>
          </a:prstGeom>
          <a:noFill/>
          <a:ln>
            <a:gradFill>
              <a:gsLst>
                <a:gs pos="0">
                  <a:srgbClr val="FFFFFF"/>
                </a:gs>
                <a:gs pos="100000">
                  <a:srgbClr val="58B6E5">
                    <a:lumMod val="40000"/>
                    <a:lumOff val="60000"/>
                  </a:srgbClr>
                </a:gs>
              </a:gsLst>
              <a:lin ang="0" scaled="1"/>
            </a:gra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燕尾形 84"/>
          <p:cNvSpPr/>
          <p:nvPr>
            <p:custDataLst>
              <p:tags r:id="rId12"/>
            </p:custDataLst>
          </p:nvPr>
        </p:nvSpPr>
        <p:spPr>
          <a:xfrm>
            <a:off x="1123315" y="3829305"/>
            <a:ext cx="3267861" cy="1002021"/>
          </a:xfrm>
          <a:prstGeom prst="chevron">
            <a:avLst/>
          </a:prstGeom>
          <a:gradFill>
            <a:gsLst>
              <a:gs pos="0">
                <a:srgbClr val="58B6E5">
                  <a:lumMod val="20000"/>
                  <a:lumOff val="80000"/>
                  <a:alpha val="0"/>
                </a:srgbClr>
              </a:gs>
              <a:gs pos="100000">
                <a:srgbClr val="58B6E5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燕尾形 88"/>
          <p:cNvSpPr/>
          <p:nvPr>
            <p:custDataLst>
              <p:tags r:id="rId13"/>
            </p:custDataLst>
          </p:nvPr>
        </p:nvSpPr>
        <p:spPr>
          <a:xfrm>
            <a:off x="4150060" y="5387580"/>
            <a:ext cx="3393045" cy="1002021"/>
          </a:xfrm>
          <a:prstGeom prst="chevron">
            <a:avLst/>
          </a:prstGeom>
          <a:noFill/>
          <a:ln>
            <a:gradFill>
              <a:gsLst>
                <a:gs pos="0">
                  <a:srgbClr val="FFFFFF"/>
                </a:gs>
                <a:gs pos="100000">
                  <a:srgbClr val="56CA95">
                    <a:lumMod val="40000"/>
                    <a:lumOff val="60000"/>
                  </a:srgbClr>
                </a:gs>
              </a:gsLst>
              <a:lin ang="0" scaled="1"/>
            </a:gra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燕尾形 89"/>
          <p:cNvSpPr/>
          <p:nvPr>
            <p:custDataLst>
              <p:tags r:id="rId14"/>
            </p:custDataLst>
          </p:nvPr>
        </p:nvSpPr>
        <p:spPr>
          <a:xfrm>
            <a:off x="4150060" y="5387580"/>
            <a:ext cx="3267861" cy="1002021"/>
          </a:xfrm>
          <a:prstGeom prst="chevron">
            <a:avLst/>
          </a:prstGeom>
          <a:gradFill>
            <a:gsLst>
              <a:gs pos="0">
                <a:srgbClr val="56CA95">
                  <a:lumMod val="20000"/>
                  <a:lumOff val="80000"/>
                  <a:alpha val="0"/>
                </a:srgbClr>
              </a:gs>
              <a:gs pos="100000">
                <a:srgbClr val="56CA95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燕尾形 93"/>
          <p:cNvSpPr/>
          <p:nvPr>
            <p:custDataLst>
              <p:tags r:id="rId15"/>
            </p:custDataLst>
          </p:nvPr>
        </p:nvSpPr>
        <p:spPr>
          <a:xfrm flipH="1">
            <a:off x="6791453" y="1999433"/>
            <a:ext cx="3393045" cy="1002021"/>
          </a:xfrm>
          <a:prstGeom prst="chevron">
            <a:avLst/>
          </a:prstGeom>
          <a:noFill/>
          <a:ln>
            <a:gradFill>
              <a:gsLst>
                <a:gs pos="0">
                  <a:srgbClr val="FFFFFF"/>
                </a:gs>
                <a:gs pos="100000">
                  <a:srgbClr val="FFBA55">
                    <a:lumMod val="40000"/>
                    <a:lumOff val="60000"/>
                  </a:srgbClr>
                </a:gs>
              </a:gsLst>
              <a:lin ang="0" scaled="1"/>
            </a:gra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燕尾形 94"/>
          <p:cNvSpPr/>
          <p:nvPr>
            <p:custDataLst>
              <p:tags r:id="rId16"/>
            </p:custDataLst>
          </p:nvPr>
        </p:nvSpPr>
        <p:spPr>
          <a:xfrm flipH="1">
            <a:off x="6916638" y="1999433"/>
            <a:ext cx="3267861" cy="1002021"/>
          </a:xfrm>
          <a:prstGeom prst="chevron">
            <a:avLst/>
          </a:prstGeom>
          <a:gradFill>
            <a:gsLst>
              <a:gs pos="0">
                <a:srgbClr val="FFBA55">
                  <a:lumMod val="20000"/>
                  <a:lumOff val="80000"/>
                  <a:alpha val="0"/>
                </a:srgbClr>
              </a:gs>
              <a:gs pos="100000">
                <a:srgbClr val="FFBA55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燕尾形 98"/>
          <p:cNvSpPr/>
          <p:nvPr>
            <p:custDataLst>
              <p:tags r:id="rId17"/>
            </p:custDataLst>
          </p:nvPr>
        </p:nvSpPr>
        <p:spPr>
          <a:xfrm flipH="1">
            <a:off x="7418465" y="3860873"/>
            <a:ext cx="3393045" cy="1002021"/>
          </a:xfrm>
          <a:prstGeom prst="chevron">
            <a:avLst/>
          </a:prstGeom>
          <a:noFill/>
          <a:ln>
            <a:gradFill>
              <a:gsLst>
                <a:gs pos="0">
                  <a:srgbClr val="FFFFFF"/>
                </a:gs>
                <a:gs pos="100000">
                  <a:srgbClr val="F18870">
                    <a:lumMod val="40000"/>
                    <a:lumOff val="60000"/>
                  </a:srgbClr>
                </a:gs>
              </a:gsLst>
              <a:lin ang="0" scaled="1"/>
            </a:gradFill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燕尾形 99"/>
          <p:cNvSpPr/>
          <p:nvPr>
            <p:custDataLst>
              <p:tags r:id="rId18"/>
            </p:custDataLst>
          </p:nvPr>
        </p:nvSpPr>
        <p:spPr>
          <a:xfrm flipH="1">
            <a:off x="7543649" y="3860873"/>
            <a:ext cx="3267861" cy="1002021"/>
          </a:xfrm>
          <a:prstGeom prst="chevron">
            <a:avLst/>
          </a:prstGeom>
          <a:gradFill>
            <a:gsLst>
              <a:gs pos="0">
                <a:srgbClr val="F18870">
                  <a:lumMod val="20000"/>
                  <a:lumOff val="80000"/>
                  <a:alpha val="0"/>
                </a:srgbClr>
              </a:gs>
              <a:gs pos="100000">
                <a:srgbClr val="F18870">
                  <a:lumMod val="20000"/>
                  <a:lumOff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9"/>
            </p:custDataLst>
          </p:nvPr>
        </p:nvSpPr>
        <p:spPr>
          <a:xfrm rot="16200000">
            <a:off x="6091555" y="-120650"/>
            <a:ext cx="17780" cy="3647440"/>
          </a:xfrm>
          <a:prstGeom prst="rect">
            <a:avLst/>
          </a:prstGeom>
          <a:gradFill>
            <a:gsLst>
              <a:gs pos="0">
                <a:srgbClr val="FFFFFF">
                  <a:lumMod val="95000"/>
                  <a:alpha val="0"/>
                </a:srgbClr>
              </a:gs>
              <a:gs pos="100000">
                <a:srgbClr val="FFFFFF">
                  <a:lumMod val="95000"/>
                  <a:alpha val="0"/>
                </a:srgbClr>
              </a:gs>
              <a:gs pos="47000">
                <a:srgbClr val="6096E6"/>
              </a:gs>
            </a:gsLst>
            <a:lin ang="5400000" scaled="0"/>
          </a:gradFill>
          <a:ln>
            <a:noFill/>
          </a:ln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20"/>
            </p:custDataLst>
          </p:nvPr>
        </p:nvSpPr>
        <p:spPr>
          <a:xfrm>
            <a:off x="4700270" y="5573395"/>
            <a:ext cx="2638425" cy="629920"/>
          </a:xfrm>
          <a:prstGeom prst="rect">
            <a:avLst/>
          </a:prstGeom>
          <a:noFill/>
        </p:spPr>
        <p:txBody>
          <a:bodyPr wrap="square" rtlCol="0"/>
          <a:p>
            <a:pPr algn="l" fontAlgn="auto">
              <a:lnSpc>
                <a:spcPct val="14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⑤基于</a:t>
            </a:r>
            <a:r>
              <a:rPr lang="zh-CN" altLang="en-US" sz="1400" spc="150">
                <a:solidFill>
                  <a:srgbClr val="FF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国产化软硬件部署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，推进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医院信创改造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进程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21"/>
            </p:custDataLst>
          </p:nvPr>
        </p:nvSpPr>
        <p:spPr>
          <a:xfrm>
            <a:off x="2109437" y="2161935"/>
            <a:ext cx="2182778" cy="62978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①实现</a:t>
            </a:r>
            <a:r>
              <a:rPr lang="zh-CN" altLang="en-US" sz="1400" spc="150">
                <a:solidFill>
                  <a:srgbClr val="FF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药学数据整合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利用，统一管理上报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口径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492885" y="4006215"/>
            <a:ext cx="2424430" cy="678815"/>
          </a:xfrm>
          <a:prstGeom prst="rect">
            <a:avLst/>
          </a:prstGeom>
          <a:noFill/>
        </p:spPr>
        <p:txBody>
          <a:bodyPr wrap="square" rtlCol="0"/>
          <a:p>
            <a:pPr algn="r"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③建立</a:t>
            </a:r>
            <a:r>
              <a:rPr lang="zh-CN" altLang="en-US" sz="1400" spc="150">
                <a:solidFill>
                  <a:srgbClr val="FF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药学科研数据库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，提升专科水平和学科能力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8025130" y="4006215"/>
            <a:ext cx="2274570" cy="629920"/>
          </a:xfrm>
          <a:prstGeom prst="rect">
            <a:avLst/>
          </a:prstGeom>
          <a:noFill/>
        </p:spPr>
        <p:txBody>
          <a:bodyPr wrap="square" rtlCol="0"/>
          <a:p>
            <a:pPr algn="l"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④构建</a:t>
            </a:r>
            <a:r>
              <a:rPr lang="zh-CN" altLang="en-US" sz="1400" spc="150">
                <a:solidFill>
                  <a:srgbClr val="FF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医院药事运营和决策分析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管理平台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7517130" y="2162175"/>
            <a:ext cx="2252345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②构建完整</a:t>
            </a:r>
            <a:r>
              <a:rPr lang="zh-CN" altLang="en-US" sz="1400" spc="150">
                <a:solidFill>
                  <a:srgbClr val="FF0000"/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药学数据质量管理及药品追溯</a:t>
            </a:r>
            <a:r>
              <a:rPr lang="zh-CN" altLang="en-US" sz="1400" spc="15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思源黑体 CN Regular" panose="020B0500000000000000" charset="-122"/>
                <a:ea typeface="思源黑体 CN Regular" panose="020B0500000000000000" charset="-122"/>
                <a:sym typeface="+mn-ea"/>
              </a:rPr>
              <a:t>体系</a:t>
            </a:r>
            <a:endParaRPr lang="zh-CN" altLang="en-US" sz="1400" spc="150">
              <a:solidFill>
                <a:srgbClr val="000000">
                  <a:lumMod val="75000"/>
                  <a:lumOff val="25000"/>
                </a:srgbClr>
              </a:solidFill>
              <a:uFillTx/>
              <a:latin typeface="思源黑体 CN Regular" panose="020B0500000000000000" charset="-122"/>
              <a:ea typeface="思源黑体 CN Regular" panose="020B0500000000000000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3822700" y="1056640"/>
            <a:ext cx="4582795" cy="599440"/>
          </a:xfrm>
          <a:prstGeom prst="rect">
            <a:avLst/>
          </a:prstGeom>
          <a:noFill/>
        </p:spPr>
        <p:txBody>
          <a:bodyPr wrap="square" bIns="0" rtlCol="0"/>
          <a:p>
            <a:pPr algn="ctr"/>
            <a:r>
              <a:rPr lang="zh-CN" altLang="en-US" sz="2800" spc="30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药学数据中心</a:t>
            </a:r>
            <a:r>
              <a:rPr lang="en-US" altLang="zh-CN" sz="2800" spc="30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800" spc="30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建设目标</a:t>
            </a:r>
            <a:endParaRPr lang="zh-CN" altLang="en-US" sz="2800" spc="300">
              <a:solidFill>
                <a:srgbClr val="6096E6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1002030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263118" y="1721626"/>
            <a:ext cx="3150357" cy="511504"/>
            <a:chOff x="6339097" y="1573726"/>
            <a:chExt cx="3744416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394247" y="1614014"/>
              <a:ext cx="3335359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项目范围介绍</a:t>
              </a:r>
              <a:endParaRPr lang="zh-CN" altLang="zh-CN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9894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41966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6086" name="组合 24"/>
          <p:cNvGrpSpPr/>
          <p:nvPr/>
        </p:nvGrpSpPr>
        <p:grpSpPr bwMode="auto">
          <a:xfrm>
            <a:off x="6230938" y="1002030"/>
            <a:ext cx="3151187" cy="512763"/>
            <a:chOff x="6339097" y="3296031"/>
            <a:chExt cx="3744416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6111" name="矩形 26"/>
            <p:cNvSpPr>
              <a:spLocks noChangeArrowheads="1"/>
            </p:cNvSpPr>
            <p:nvPr/>
          </p:nvSpPr>
          <p:spPr bwMode="auto">
            <a:xfrm>
              <a:off x="6442469" y="3336571"/>
              <a:ext cx="3640667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医院信息系统现状与目标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138805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6092" name="组合 24"/>
          <p:cNvGrpSpPr/>
          <p:nvPr/>
        </p:nvGrpSpPr>
        <p:grpSpPr bwMode="auto">
          <a:xfrm>
            <a:off x="6253163" y="2440305"/>
            <a:ext cx="3151187" cy="512763"/>
            <a:chOff x="6339097" y="3296031"/>
            <a:chExt cx="3744416" cy="511504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6109" name="矩形 27"/>
            <p:cNvSpPr>
              <a:spLocks noChangeArrowheads="1"/>
            </p:cNvSpPr>
            <p:nvPr/>
          </p:nvSpPr>
          <p:spPr bwMode="auto">
            <a:xfrm>
              <a:off x="6490760" y="3336571"/>
              <a:ext cx="3565213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项目进度计划与里程碑</a:t>
              </a:r>
              <a:endPara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85953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6094" name="组合 24"/>
          <p:cNvGrpSpPr/>
          <p:nvPr/>
        </p:nvGrpSpPr>
        <p:grpSpPr bwMode="auto">
          <a:xfrm>
            <a:off x="6262688" y="3161030"/>
            <a:ext cx="3151187" cy="511175"/>
            <a:chOff x="6339097" y="3296031"/>
            <a:chExt cx="3744416" cy="511504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6107" name="矩形 31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项目风险管理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8025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6096" name="组合 24"/>
          <p:cNvGrpSpPr/>
          <p:nvPr/>
        </p:nvGrpSpPr>
        <p:grpSpPr bwMode="auto">
          <a:xfrm>
            <a:off x="6262688" y="3881755"/>
            <a:ext cx="3151187" cy="511175"/>
            <a:chOff x="6339097" y="3296031"/>
            <a:chExt cx="3744416" cy="511504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6105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项目团队与职责分工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9939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46098" name="组合 24"/>
          <p:cNvGrpSpPr/>
          <p:nvPr/>
        </p:nvGrpSpPr>
        <p:grpSpPr bwMode="auto">
          <a:xfrm>
            <a:off x="6262688" y="4600893"/>
            <a:ext cx="3151187" cy="511175"/>
            <a:chOff x="6339097" y="3296031"/>
            <a:chExt cx="3744416" cy="511504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6103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项目沟通协调机制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099" name="组合 24"/>
          <p:cNvGrpSpPr/>
          <p:nvPr/>
        </p:nvGrpSpPr>
        <p:grpSpPr bwMode="auto">
          <a:xfrm>
            <a:off x="6262688" y="5305743"/>
            <a:ext cx="3151187" cy="511175"/>
            <a:chOff x="6339097" y="3296031"/>
            <a:chExt cx="3744416" cy="511504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46101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项目预期成果展示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01040" y="1022350"/>
            <a:ext cx="141097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00B09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功能总览</a:t>
            </a:r>
            <a:endParaRPr lang="zh-CN" altLang="en-US" b="1" dirty="0">
              <a:solidFill>
                <a:srgbClr val="00B09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66445" y="1643380"/>
          <a:ext cx="9284970" cy="4138295"/>
        </p:xfrm>
        <a:graphic>
          <a:graphicData uri="http://schemas.openxmlformats.org/drawingml/2006/table">
            <a:tbl>
              <a:tblPr/>
              <a:tblGrid>
                <a:gridCol w="1502410"/>
                <a:gridCol w="1671320"/>
                <a:gridCol w="6111240"/>
              </a:tblGrid>
              <a:tr h="3892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功能模块</a:t>
                      </a:r>
                      <a:endParaRPr lang="en-US" altLang="en-US" sz="11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主要功能点</a:t>
                      </a:r>
                      <a:endParaRPr lang="en-US" altLang="en-US" sz="11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功能简述</a:t>
                      </a:r>
                      <a:endParaRPr lang="en-US" altLang="en-US" sz="11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089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药学数据仓库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业务数据抽取治理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结合国家、地方数据标准以及药学相关数据标准，对业务数据进行清洗、治理，按业务域进行数据存储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780"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药学主数据管理</a:t>
                      </a:r>
                      <a:endParaRPr 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药品主数据管理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药理分类、成分、通用名、属性标识、单位、剂型、厂商等数据管理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4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药品多版本管理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支持药品数据版本升级，回溯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291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支持药品回传HIS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支持药品数据按需求回传HIS系统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可视化分析引擎（BI）</a:t>
                      </a:r>
                      <a:endParaRPr 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多形式数据展示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实现大屏看板、传统报表、仪表盘等数据展现方式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88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数据维度下钻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基于数据颗粒度，实现数据自医院下钻至科室、医生等深层次数据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7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数据报表导出发送能力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支持数据报表手动导出，及按月、按日定时邮件发送能力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46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药事运营决策分析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药事运营指标分析能力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可包括集采药品主题、抗菌药物主题、抗肿瘤药物主题、三公绩效考核分析、药事管理专业医疗质控分析、医疗机构合理用药指标、院内药房药库运营指标等多角度分析能力，支持实时预警、统一上报等管理功能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298" name="TextBox 43"/>
          <p:cNvSpPr txBox="1">
            <a:spLocks noChangeArrowheads="1"/>
          </p:cNvSpPr>
          <p:nvPr/>
        </p:nvSpPr>
        <p:spPr bwMode="auto">
          <a:xfrm>
            <a:off x="2525713" y="204788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项目范围-软件功能及模块</a:t>
            </a:r>
            <a:endParaRPr lang="zh-CN" altLang="en-US" sz="2800" b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1002030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255498" y="2414416"/>
            <a:ext cx="3150357" cy="511504"/>
            <a:chOff x="6339097" y="1573726"/>
            <a:chExt cx="3744416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394247" y="1614014"/>
              <a:ext cx="3335359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项目进度计划与里程碑</a:t>
              </a:r>
              <a:endParaRPr lang="zh-CN" altLang="zh-CN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9894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41966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3254" name="组合 24"/>
          <p:cNvGrpSpPr/>
          <p:nvPr/>
        </p:nvGrpSpPr>
        <p:grpSpPr bwMode="auto">
          <a:xfrm>
            <a:off x="6230938" y="1002030"/>
            <a:ext cx="3175000" cy="512763"/>
            <a:chOff x="6339097" y="3296031"/>
            <a:chExt cx="3772712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3279" name="矩形 26"/>
            <p:cNvSpPr>
              <a:spLocks noChangeArrowheads="1"/>
            </p:cNvSpPr>
            <p:nvPr/>
          </p:nvSpPr>
          <p:spPr bwMode="auto">
            <a:xfrm>
              <a:off x="6442469" y="3336571"/>
              <a:ext cx="3669340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医院信息系统现状与目标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138805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3260" name="组合 24"/>
          <p:cNvGrpSpPr/>
          <p:nvPr/>
        </p:nvGrpSpPr>
        <p:grpSpPr bwMode="auto">
          <a:xfrm>
            <a:off x="6230938" y="1698943"/>
            <a:ext cx="3149600" cy="777875"/>
            <a:chOff x="6339097" y="3296031"/>
            <a:chExt cx="3744416" cy="777078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065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3277" name="矩形 27"/>
            <p:cNvSpPr>
              <a:spLocks noChangeArrowheads="1"/>
            </p:cNvSpPr>
            <p:nvPr/>
          </p:nvSpPr>
          <p:spPr bwMode="auto">
            <a:xfrm>
              <a:off x="6490889" y="3336319"/>
              <a:ext cx="3414385" cy="736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项目范围介绍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85953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3262" name="组合 24"/>
          <p:cNvGrpSpPr/>
          <p:nvPr/>
        </p:nvGrpSpPr>
        <p:grpSpPr bwMode="auto">
          <a:xfrm>
            <a:off x="6254750" y="3127693"/>
            <a:ext cx="3151188" cy="511175"/>
            <a:chOff x="6339097" y="3296031"/>
            <a:chExt cx="3744416" cy="511504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3275" name="矩形 31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项目风险管理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8025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3264" name="组合 24"/>
          <p:cNvGrpSpPr/>
          <p:nvPr/>
        </p:nvGrpSpPr>
        <p:grpSpPr bwMode="auto">
          <a:xfrm>
            <a:off x="6254750" y="3848418"/>
            <a:ext cx="3151188" cy="511175"/>
            <a:chOff x="6339097" y="3296031"/>
            <a:chExt cx="3744416" cy="511504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3273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项目团队与职责分工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9939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3266" name="组合 24"/>
          <p:cNvGrpSpPr/>
          <p:nvPr/>
        </p:nvGrpSpPr>
        <p:grpSpPr bwMode="auto">
          <a:xfrm>
            <a:off x="6254750" y="4567555"/>
            <a:ext cx="3151188" cy="511175"/>
            <a:chOff x="6339097" y="3296031"/>
            <a:chExt cx="3744416" cy="511504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3271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项目沟通协调机制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267" name="组合 24"/>
          <p:cNvGrpSpPr/>
          <p:nvPr/>
        </p:nvGrpSpPr>
        <p:grpSpPr bwMode="auto">
          <a:xfrm>
            <a:off x="6254750" y="5272405"/>
            <a:ext cx="3151188" cy="511175"/>
            <a:chOff x="6339097" y="3296031"/>
            <a:chExt cx="3744416" cy="511504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3269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项目预期成果展示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43"/>
          <p:cNvSpPr txBox="1">
            <a:spLocks noChangeArrowheads="1"/>
          </p:cNvSpPr>
          <p:nvPr/>
        </p:nvSpPr>
        <p:spPr bwMode="auto">
          <a:xfrm>
            <a:off x="2525713" y="204788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项目建设规划</a:t>
            </a:r>
            <a:endParaRPr lang="en-US" altLang="zh-CN" sz="2800" b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Freeform 5"/>
          <p:cNvSpPr>
            <a:spLocks noChangeArrowheads="1"/>
          </p:cNvSpPr>
          <p:nvPr/>
        </p:nvSpPr>
        <p:spPr bwMode="auto">
          <a:xfrm>
            <a:off x="10131743" y="3255963"/>
            <a:ext cx="500062" cy="1039812"/>
          </a:xfrm>
          <a:custGeom>
            <a:avLst/>
            <a:gdLst>
              <a:gd name="T0" fmla="*/ 500062 w 280"/>
              <a:gd name="T1" fmla="*/ 335345 h 862"/>
              <a:gd name="T2" fmla="*/ 500062 w 280"/>
              <a:gd name="T3" fmla="*/ 1039812 h 862"/>
              <a:gd name="T4" fmla="*/ 0 w 280"/>
              <a:gd name="T5" fmla="*/ 702054 h 862"/>
              <a:gd name="T6" fmla="*/ 0 w 280"/>
              <a:gd name="T7" fmla="*/ 0 h 862"/>
              <a:gd name="T8" fmla="*/ 5358 w 280"/>
              <a:gd name="T9" fmla="*/ 0 h 862"/>
              <a:gd name="T10" fmla="*/ 500062 w 280"/>
              <a:gd name="T11" fmla="*/ 335345 h 8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0" h="862">
                <a:moveTo>
                  <a:pt x="280" y="278"/>
                </a:moveTo>
                <a:lnTo>
                  <a:pt x="280" y="862"/>
                </a:lnTo>
                <a:lnTo>
                  <a:pt x="0" y="582"/>
                </a:lnTo>
                <a:lnTo>
                  <a:pt x="0" y="0"/>
                </a:lnTo>
                <a:lnTo>
                  <a:pt x="3" y="0"/>
                </a:lnTo>
                <a:lnTo>
                  <a:pt x="280" y="2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8"/>
          <p:cNvSpPr>
            <a:spLocks noChangeArrowheads="1"/>
          </p:cNvSpPr>
          <p:nvPr/>
        </p:nvSpPr>
        <p:spPr bwMode="auto">
          <a:xfrm>
            <a:off x="8601393" y="3255963"/>
            <a:ext cx="501650" cy="1354137"/>
          </a:xfrm>
          <a:custGeom>
            <a:avLst/>
            <a:gdLst>
              <a:gd name="T0" fmla="*/ 501650 w 281"/>
              <a:gd name="T1" fmla="*/ 335218 h 1123"/>
              <a:gd name="T2" fmla="*/ 501650 w 281"/>
              <a:gd name="T3" fmla="*/ 1354137 h 1123"/>
              <a:gd name="T4" fmla="*/ 0 w 281"/>
              <a:gd name="T5" fmla="*/ 1015301 h 1123"/>
              <a:gd name="T6" fmla="*/ 0 w 281"/>
              <a:gd name="T7" fmla="*/ 0 h 1123"/>
              <a:gd name="T8" fmla="*/ 498080 w 281"/>
              <a:gd name="T9" fmla="*/ 335218 h 1123"/>
              <a:gd name="T10" fmla="*/ 501650 w 281"/>
              <a:gd name="T11" fmla="*/ 335218 h 1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9" y="278"/>
                </a:lnTo>
                <a:lnTo>
                  <a:pt x="281" y="2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0"/>
          <p:cNvSpPr>
            <a:spLocks noChangeArrowheads="1"/>
          </p:cNvSpPr>
          <p:nvPr/>
        </p:nvSpPr>
        <p:spPr bwMode="auto">
          <a:xfrm>
            <a:off x="7072630" y="3255963"/>
            <a:ext cx="500063" cy="1354137"/>
          </a:xfrm>
          <a:custGeom>
            <a:avLst/>
            <a:gdLst>
              <a:gd name="T0" fmla="*/ 500063 w 281"/>
              <a:gd name="T1" fmla="*/ 335218 h 1123"/>
              <a:gd name="T2" fmla="*/ 500063 w 281"/>
              <a:gd name="T3" fmla="*/ 1354137 h 1123"/>
              <a:gd name="T4" fmla="*/ 0 w 281"/>
              <a:gd name="T5" fmla="*/ 1015301 h 1123"/>
              <a:gd name="T6" fmla="*/ 0 w 281"/>
              <a:gd name="T7" fmla="*/ 0 h 1123"/>
              <a:gd name="T8" fmla="*/ 494724 w 281"/>
              <a:gd name="T9" fmla="*/ 335218 h 1123"/>
              <a:gd name="T10" fmla="*/ 500063 w 281"/>
              <a:gd name="T11" fmla="*/ 335218 h 1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1" y="2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2"/>
          <p:cNvSpPr>
            <a:spLocks noChangeArrowheads="1"/>
          </p:cNvSpPr>
          <p:nvPr/>
        </p:nvSpPr>
        <p:spPr bwMode="auto">
          <a:xfrm>
            <a:off x="5542280" y="3255963"/>
            <a:ext cx="500063" cy="1354137"/>
          </a:xfrm>
          <a:custGeom>
            <a:avLst/>
            <a:gdLst>
              <a:gd name="T0" fmla="*/ 500063 w 280"/>
              <a:gd name="T1" fmla="*/ 335218 h 1123"/>
              <a:gd name="T2" fmla="*/ 500063 w 280"/>
              <a:gd name="T3" fmla="*/ 1354137 h 1123"/>
              <a:gd name="T4" fmla="*/ 0 w 280"/>
              <a:gd name="T5" fmla="*/ 1015301 h 1123"/>
              <a:gd name="T6" fmla="*/ 0 w 280"/>
              <a:gd name="T7" fmla="*/ 0 h 1123"/>
              <a:gd name="T8" fmla="*/ 496491 w 280"/>
              <a:gd name="T9" fmla="*/ 335218 h 1123"/>
              <a:gd name="T10" fmla="*/ 500063 w 280"/>
              <a:gd name="T11" fmla="*/ 335218 h 1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4"/>
          <p:cNvSpPr>
            <a:spLocks noChangeArrowheads="1"/>
          </p:cNvSpPr>
          <p:nvPr/>
        </p:nvSpPr>
        <p:spPr bwMode="auto">
          <a:xfrm>
            <a:off x="4013518" y="3255963"/>
            <a:ext cx="500062" cy="1354137"/>
          </a:xfrm>
          <a:custGeom>
            <a:avLst/>
            <a:gdLst>
              <a:gd name="T0" fmla="*/ 500062 w 280"/>
              <a:gd name="T1" fmla="*/ 335218 h 1123"/>
              <a:gd name="T2" fmla="*/ 500062 w 280"/>
              <a:gd name="T3" fmla="*/ 1354137 h 1123"/>
              <a:gd name="T4" fmla="*/ 0 w 280"/>
              <a:gd name="T5" fmla="*/ 1015301 h 1123"/>
              <a:gd name="T6" fmla="*/ 0 w 280"/>
              <a:gd name="T7" fmla="*/ 0 h 1123"/>
              <a:gd name="T8" fmla="*/ 496490 w 280"/>
              <a:gd name="T9" fmla="*/ 335218 h 1123"/>
              <a:gd name="T10" fmla="*/ 500062 w 280"/>
              <a:gd name="T11" fmla="*/ 335218 h 1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6"/>
          <p:cNvSpPr>
            <a:spLocks noChangeArrowheads="1"/>
          </p:cNvSpPr>
          <p:nvPr/>
        </p:nvSpPr>
        <p:spPr bwMode="auto">
          <a:xfrm>
            <a:off x="2484755" y="3255963"/>
            <a:ext cx="498475" cy="1354137"/>
          </a:xfrm>
          <a:custGeom>
            <a:avLst/>
            <a:gdLst>
              <a:gd name="T0" fmla="*/ 498475 w 280"/>
              <a:gd name="T1" fmla="*/ 335218 h 1123"/>
              <a:gd name="T2" fmla="*/ 498475 w 280"/>
              <a:gd name="T3" fmla="*/ 1354137 h 1123"/>
              <a:gd name="T4" fmla="*/ 0 w 280"/>
              <a:gd name="T5" fmla="*/ 1015301 h 1123"/>
              <a:gd name="T6" fmla="*/ 0 w 280"/>
              <a:gd name="T7" fmla="*/ 0 h 1123"/>
              <a:gd name="T8" fmla="*/ 494914 w 280"/>
              <a:gd name="T9" fmla="*/ 335218 h 1123"/>
              <a:gd name="T10" fmla="*/ 498475 w 280"/>
              <a:gd name="T11" fmla="*/ 335218 h 1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7"/>
          <p:cNvSpPr>
            <a:spLocks noChangeArrowheads="1"/>
          </p:cNvSpPr>
          <p:nvPr/>
        </p:nvSpPr>
        <p:spPr bwMode="auto">
          <a:xfrm>
            <a:off x="10631805" y="3430588"/>
            <a:ext cx="1100138" cy="1023937"/>
          </a:xfrm>
          <a:custGeom>
            <a:avLst/>
            <a:gdLst>
              <a:gd name="T0" fmla="*/ 374439 w 617"/>
              <a:gd name="T1" fmla="*/ 1023937 h 849"/>
              <a:gd name="T2" fmla="*/ 374439 w 617"/>
              <a:gd name="T3" fmla="*/ 864738 h 849"/>
              <a:gd name="T4" fmla="*/ 0 w 617"/>
              <a:gd name="T5" fmla="*/ 864738 h 849"/>
              <a:gd name="T6" fmla="*/ 0 w 617"/>
              <a:gd name="T7" fmla="*/ 160405 h 849"/>
              <a:gd name="T8" fmla="*/ 374439 w 617"/>
              <a:gd name="T9" fmla="*/ 160405 h 849"/>
              <a:gd name="T10" fmla="*/ 374439 w 617"/>
              <a:gd name="T11" fmla="*/ 0 h 849"/>
              <a:gd name="T12" fmla="*/ 1100138 w 617"/>
              <a:gd name="T13" fmla="*/ 511365 h 849"/>
              <a:gd name="T14" fmla="*/ 374439 w 617"/>
              <a:gd name="T15" fmla="*/ 1023937 h 84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17" h="849">
                <a:moveTo>
                  <a:pt x="210" y="849"/>
                </a:moveTo>
                <a:lnTo>
                  <a:pt x="210" y="717"/>
                </a:lnTo>
                <a:lnTo>
                  <a:pt x="0" y="717"/>
                </a:lnTo>
                <a:lnTo>
                  <a:pt x="0" y="133"/>
                </a:lnTo>
                <a:lnTo>
                  <a:pt x="210" y="133"/>
                </a:lnTo>
                <a:lnTo>
                  <a:pt x="210" y="0"/>
                </a:lnTo>
                <a:lnTo>
                  <a:pt x="617" y="424"/>
                </a:lnTo>
                <a:lnTo>
                  <a:pt x="210" y="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5" name="组合 74"/>
          <p:cNvGrpSpPr/>
          <p:nvPr/>
        </p:nvGrpSpPr>
        <p:grpSpPr bwMode="auto">
          <a:xfrm>
            <a:off x="1341755" y="3255963"/>
            <a:ext cx="1279525" cy="1349375"/>
            <a:chOff x="882491" y="2261909"/>
            <a:chExt cx="959665" cy="1012525"/>
          </a:xfrm>
        </p:grpSpPr>
        <p:sp>
          <p:nvSpPr>
            <p:cNvPr id="55336" name="Freeform 15"/>
            <p:cNvSpPr>
              <a:spLocks noChangeArrowheads="1"/>
            </p:cNvSpPr>
            <p:nvPr/>
          </p:nvSpPr>
          <p:spPr bwMode="auto">
            <a:xfrm>
              <a:off x="967016" y="2261909"/>
              <a:ext cx="772282" cy="1012525"/>
            </a:xfrm>
            <a:custGeom>
              <a:avLst/>
              <a:gdLst>
                <a:gd name="T0" fmla="*/ 772282 w 577"/>
                <a:gd name="T1" fmla="*/ 0 h 1119"/>
                <a:gd name="T2" fmla="*/ 772282 w 577"/>
                <a:gd name="T3" fmla="*/ 1012525 h 1119"/>
                <a:gd name="T4" fmla="*/ 385472 w 577"/>
                <a:gd name="T5" fmla="*/ 760072 h 1119"/>
                <a:gd name="T6" fmla="*/ 0 w 577"/>
                <a:gd name="T7" fmla="*/ 1011620 h 1119"/>
                <a:gd name="T8" fmla="*/ 0 w 577"/>
                <a:gd name="T9" fmla="*/ 0 h 1119"/>
                <a:gd name="T10" fmla="*/ 772282 w 577"/>
                <a:gd name="T11" fmla="*/ 0 h 1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7" h="1119">
                  <a:moveTo>
                    <a:pt x="577" y="0"/>
                  </a:moveTo>
                  <a:lnTo>
                    <a:pt x="577" y="1119"/>
                  </a:lnTo>
                  <a:lnTo>
                    <a:pt x="288" y="840"/>
                  </a:lnTo>
                  <a:lnTo>
                    <a:pt x="0" y="1118"/>
                  </a:lnTo>
                  <a:lnTo>
                    <a:pt x="0" y="0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Placeholder 59"/>
            <p:cNvSpPr txBox="1"/>
            <p:nvPr/>
          </p:nvSpPr>
          <p:spPr>
            <a:xfrm>
              <a:off x="882491" y="2383412"/>
              <a:ext cx="959665" cy="677796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itchFamily="2" charset="0"/>
                  <a:ea typeface="Roboto Light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sz="2665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 bwMode="auto">
          <a:xfrm>
            <a:off x="2870518" y="3255963"/>
            <a:ext cx="1279525" cy="1354137"/>
            <a:chOff x="2029538" y="2261909"/>
            <a:chExt cx="959665" cy="1016144"/>
          </a:xfrm>
        </p:grpSpPr>
        <p:sp>
          <p:nvSpPr>
            <p:cNvPr id="55334" name="Rectangle 13"/>
            <p:cNvSpPr>
              <a:spLocks noChangeArrowheads="1"/>
            </p:cNvSpPr>
            <p:nvPr/>
          </p:nvSpPr>
          <p:spPr bwMode="auto">
            <a:xfrm>
              <a:off x="2114063" y="2261909"/>
              <a:ext cx="772282" cy="1016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7" tIns="60953" rIns="121907" bIns="60953"/>
            <a:lstStyle/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sz="3200">
                <a:latin typeface="Roboto Light" pitchFamily="2" charset="0"/>
              </a:endParaRPr>
            </a:p>
          </p:txBody>
        </p:sp>
        <p:sp>
          <p:nvSpPr>
            <p:cNvPr id="80" name="Text Placeholder 59"/>
            <p:cNvSpPr txBox="1"/>
            <p:nvPr/>
          </p:nvSpPr>
          <p:spPr>
            <a:xfrm>
              <a:off x="2029538" y="2383417"/>
              <a:ext cx="959665" cy="677826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itchFamily="2" charset="0"/>
                  <a:ea typeface="Roboto Light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sz="2665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 bwMode="auto">
          <a:xfrm>
            <a:off x="4400868" y="3255963"/>
            <a:ext cx="1279525" cy="1354137"/>
            <a:chOff x="3176585" y="2261909"/>
            <a:chExt cx="959665" cy="1016144"/>
          </a:xfrm>
        </p:grpSpPr>
        <p:sp>
          <p:nvSpPr>
            <p:cNvPr id="55332" name="Rectangle 11"/>
            <p:cNvSpPr>
              <a:spLocks noChangeArrowheads="1"/>
            </p:cNvSpPr>
            <p:nvPr/>
          </p:nvSpPr>
          <p:spPr bwMode="auto">
            <a:xfrm>
              <a:off x="3261110" y="2261909"/>
              <a:ext cx="772282" cy="1016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7" tIns="60953" rIns="121907" bIns="60953"/>
            <a:lstStyle/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sz="3200">
                <a:latin typeface="Roboto Light" pitchFamily="2" charset="0"/>
              </a:endParaRPr>
            </a:p>
          </p:txBody>
        </p:sp>
        <p:sp>
          <p:nvSpPr>
            <p:cNvPr id="83" name="Text Placeholder 59"/>
            <p:cNvSpPr txBox="1"/>
            <p:nvPr/>
          </p:nvSpPr>
          <p:spPr>
            <a:xfrm>
              <a:off x="3176585" y="2383417"/>
              <a:ext cx="959665" cy="677826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itchFamily="2" charset="0"/>
                  <a:ea typeface="Roboto Light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sz="2665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4" name="组合 83"/>
          <p:cNvGrpSpPr/>
          <p:nvPr/>
        </p:nvGrpSpPr>
        <p:grpSpPr bwMode="auto">
          <a:xfrm>
            <a:off x="5929630" y="3255963"/>
            <a:ext cx="1279525" cy="1354137"/>
            <a:chOff x="4323632" y="2261909"/>
            <a:chExt cx="959665" cy="1016144"/>
          </a:xfrm>
        </p:grpSpPr>
        <p:sp>
          <p:nvSpPr>
            <p:cNvPr id="55330" name="Rectangle 9"/>
            <p:cNvSpPr>
              <a:spLocks noChangeArrowheads="1"/>
            </p:cNvSpPr>
            <p:nvPr/>
          </p:nvSpPr>
          <p:spPr bwMode="auto">
            <a:xfrm>
              <a:off x="4408157" y="2261909"/>
              <a:ext cx="772282" cy="1016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7" tIns="60953" rIns="121907" bIns="60953"/>
            <a:lstStyle/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sz="3200">
                <a:latin typeface="Roboto Light" pitchFamily="2" charset="0"/>
              </a:endParaRPr>
            </a:p>
          </p:txBody>
        </p:sp>
        <p:sp>
          <p:nvSpPr>
            <p:cNvPr id="86" name="Text Placeholder 59"/>
            <p:cNvSpPr txBox="1"/>
            <p:nvPr/>
          </p:nvSpPr>
          <p:spPr>
            <a:xfrm>
              <a:off x="4323632" y="2383417"/>
              <a:ext cx="959665" cy="677826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accent5"/>
                  </a:solidFill>
                  <a:latin typeface="Roboto Light" pitchFamily="2" charset="0"/>
                  <a:ea typeface="Roboto Light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665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r>
                <a:rPr lang="zh-CN" altLang="en-US" sz="2665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sz="2665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7" name="组合 86"/>
          <p:cNvGrpSpPr/>
          <p:nvPr/>
        </p:nvGrpSpPr>
        <p:grpSpPr bwMode="auto">
          <a:xfrm>
            <a:off x="7455218" y="3255963"/>
            <a:ext cx="1279525" cy="1354137"/>
            <a:chOff x="5468157" y="2261909"/>
            <a:chExt cx="959665" cy="1016144"/>
          </a:xfrm>
        </p:grpSpPr>
        <p:sp>
          <p:nvSpPr>
            <p:cNvPr id="55328" name="Rectangle 7"/>
            <p:cNvSpPr>
              <a:spLocks noChangeArrowheads="1"/>
            </p:cNvSpPr>
            <p:nvPr/>
          </p:nvSpPr>
          <p:spPr bwMode="auto">
            <a:xfrm>
              <a:off x="5556542" y="2261909"/>
              <a:ext cx="770944" cy="1016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7" tIns="60953" rIns="121907" bIns="60953"/>
            <a:lstStyle/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sz="3200">
                <a:latin typeface="Roboto Light" pitchFamily="2" charset="0"/>
              </a:endParaRPr>
            </a:p>
          </p:txBody>
        </p:sp>
        <p:sp>
          <p:nvSpPr>
            <p:cNvPr id="89" name="Text Placeholder 59"/>
            <p:cNvSpPr txBox="1"/>
            <p:nvPr/>
          </p:nvSpPr>
          <p:spPr>
            <a:xfrm>
              <a:off x="5468157" y="2383417"/>
              <a:ext cx="959665" cy="677826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itchFamily="2" charset="0"/>
                  <a:ea typeface="Roboto Light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r>
                <a:rPr lang="zh-CN" altLang="en-US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sz="2665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 bwMode="auto">
          <a:xfrm>
            <a:off x="8990330" y="3255963"/>
            <a:ext cx="1279525" cy="1354137"/>
            <a:chOff x="6619064" y="2261909"/>
            <a:chExt cx="959665" cy="1016144"/>
          </a:xfrm>
        </p:grpSpPr>
        <p:sp>
          <p:nvSpPr>
            <p:cNvPr id="55326" name="Rectangle 6"/>
            <p:cNvSpPr>
              <a:spLocks noChangeArrowheads="1"/>
            </p:cNvSpPr>
            <p:nvPr/>
          </p:nvSpPr>
          <p:spPr bwMode="auto">
            <a:xfrm>
              <a:off x="6703589" y="2261909"/>
              <a:ext cx="772282" cy="1016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7" tIns="60953" rIns="121907" bIns="60953"/>
            <a:lstStyle/>
            <a:p>
              <a:pPr eaLnBrk="1" hangingPunct="1">
                <a:buFont typeface="Arial" panose="020B0604020202020204" pitchFamily="34" charset="0"/>
                <a:buNone/>
              </a:pPr>
              <a:endParaRPr lang="en-US" altLang="zh-CN" sz="3200">
                <a:latin typeface="Roboto Light" pitchFamily="2" charset="0"/>
              </a:endParaRPr>
            </a:p>
          </p:txBody>
        </p:sp>
        <p:sp>
          <p:nvSpPr>
            <p:cNvPr id="92" name="Text Placeholder 59"/>
            <p:cNvSpPr txBox="1"/>
            <p:nvPr/>
          </p:nvSpPr>
          <p:spPr>
            <a:xfrm>
              <a:off x="6619064" y="2383417"/>
              <a:ext cx="959665" cy="677826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None/>
                <a:defRPr sz="2000" b="0" kern="1200">
                  <a:solidFill>
                    <a:schemeClr val="bg1"/>
                  </a:solidFill>
                  <a:latin typeface="Roboto Light" pitchFamily="2" charset="0"/>
                  <a:ea typeface="Roboto Light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zh-CN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r>
                <a:rPr lang="zh-CN" altLang="en-US" sz="2665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endParaRPr lang="en-US" sz="2665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3" name="Text Placeholder 59"/>
          <p:cNvSpPr txBox="1"/>
          <p:nvPr/>
        </p:nvSpPr>
        <p:spPr>
          <a:xfrm>
            <a:off x="2983230" y="4945380"/>
            <a:ext cx="2559050" cy="914400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搭建测试环境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2.需求分析与确认</a:t>
            </a:r>
            <a:endParaRPr lang="en-US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</a:t>
            </a:r>
            <a:r>
              <a:rPr lang="zh-CN" altLang="en-US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软件设计及实现</a:t>
            </a:r>
            <a:endParaRPr lang="en-US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endParaRPr lang="en-US" altLang="zh-CN" sz="1300" noProof="1">
              <a:latin typeface="Roboto Light" pitchFamily="2" charset="0"/>
            </a:endParaRPr>
          </a:p>
        </p:txBody>
      </p:sp>
      <p:cxnSp>
        <p:nvCxnSpPr>
          <p:cNvPr id="94" name="Straight Connector 54"/>
          <p:cNvCxnSpPr/>
          <p:nvPr/>
        </p:nvCxnSpPr>
        <p:spPr>
          <a:xfrm>
            <a:off x="2983230" y="4603750"/>
            <a:ext cx="0" cy="1465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 Placeholder 59"/>
          <p:cNvSpPr txBox="1"/>
          <p:nvPr/>
        </p:nvSpPr>
        <p:spPr>
          <a:xfrm>
            <a:off x="6040755" y="4945063"/>
            <a:ext cx="2559050" cy="1247775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buFont typeface="Arial" panose="020B0604020202020204" pitchFamily="34" charset="0"/>
              <a:buNone/>
            </a:pPr>
            <a:r>
              <a:rPr lang="zh-CN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药剂科老师培训</a:t>
            </a:r>
            <a:endParaRPr lang="zh-CN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正式环境测试</a:t>
            </a:r>
            <a:endParaRPr lang="zh-CN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</a:t>
            </a:r>
            <a:r>
              <a:rPr lang="zh-CN" altLang="en-US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科室上线</a:t>
            </a:r>
            <a:endParaRPr lang="zh-CN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endParaRPr lang="zh-CN" altLang="zh-CN" sz="1300" noProof="1">
              <a:latin typeface="Roboto Light" pitchFamily="2" charset="0"/>
            </a:endParaRPr>
          </a:p>
        </p:txBody>
      </p:sp>
      <p:cxnSp>
        <p:nvCxnSpPr>
          <p:cNvPr id="96" name="Straight Connector 56"/>
          <p:cNvCxnSpPr/>
          <p:nvPr/>
        </p:nvCxnSpPr>
        <p:spPr>
          <a:xfrm>
            <a:off x="6040755" y="4603750"/>
            <a:ext cx="0" cy="1465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Placeholder 59"/>
          <p:cNvSpPr txBox="1"/>
          <p:nvPr/>
        </p:nvSpPr>
        <p:spPr>
          <a:xfrm>
            <a:off x="9103043" y="4945063"/>
            <a:ext cx="2559050" cy="1247775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buFont typeface="Arial" panose="020B0604020202020204" pitchFamily="34" charset="0"/>
              <a:buNone/>
            </a:pPr>
            <a:r>
              <a:rPr lang="zh-CN" altLang="en-US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项目验收</a:t>
            </a:r>
            <a:endParaRPr lang="zh-CN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endParaRPr lang="zh-CN" altLang="zh-CN" sz="1300" noProof="1">
              <a:latin typeface="Roboto Light" pitchFamily="2" charset="0"/>
            </a:endParaRPr>
          </a:p>
        </p:txBody>
      </p:sp>
      <p:cxnSp>
        <p:nvCxnSpPr>
          <p:cNvPr id="98" name="Straight Connector 58"/>
          <p:cNvCxnSpPr/>
          <p:nvPr/>
        </p:nvCxnSpPr>
        <p:spPr>
          <a:xfrm>
            <a:off x="9103043" y="4603750"/>
            <a:ext cx="0" cy="1465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 Placeholder 59"/>
          <p:cNvSpPr txBox="1">
            <a:spLocks noChangeArrowheads="1"/>
          </p:cNvSpPr>
          <p:nvPr/>
        </p:nvSpPr>
        <p:spPr bwMode="auto">
          <a:xfrm>
            <a:off x="1470660" y="1727200"/>
            <a:ext cx="2879725" cy="1249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项目启动及进场</a:t>
            </a:r>
            <a:endParaRPr lang="en-US" altLang="zh-CN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确认功能范围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科室基础数据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明细确认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科室基础数据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来源确认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Text Placeholder 59"/>
          <p:cNvSpPr txBox="1">
            <a:spLocks noChangeArrowheads="1"/>
          </p:cNvSpPr>
          <p:nvPr/>
        </p:nvSpPr>
        <p:spPr bwMode="auto">
          <a:xfrm>
            <a:off x="4511993" y="1701800"/>
            <a:ext cx="25590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生产环境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迁移正式环境</a:t>
            </a: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后测试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Text Placeholder 59"/>
          <p:cNvSpPr txBox="1"/>
          <p:nvPr/>
        </p:nvSpPr>
        <p:spPr>
          <a:xfrm>
            <a:off x="7577455" y="1701800"/>
            <a:ext cx="2559050" cy="1247775"/>
          </a:xfrm>
          <a:prstGeom prst="rect">
            <a:avLst/>
          </a:prstGeo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buFont typeface="Arial" panose="020B0604020202020204" pitchFamily="34" charset="0"/>
              <a:buNone/>
            </a:pPr>
            <a:r>
              <a:rPr lang="zh-CN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1.数据维护</a:t>
            </a:r>
            <a:endParaRPr lang="zh-CN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zh-CN" altLang="zh-CN" sz="1600" b="1" noProof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2.系统维护</a:t>
            </a:r>
            <a:endParaRPr lang="zh-CN" altLang="zh-CN" sz="1600" b="1" noProof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2" name="Straight Connector 62"/>
          <p:cNvCxnSpPr/>
          <p:nvPr/>
        </p:nvCxnSpPr>
        <p:spPr>
          <a:xfrm>
            <a:off x="1465580" y="1798638"/>
            <a:ext cx="0" cy="14652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63"/>
          <p:cNvCxnSpPr/>
          <p:nvPr/>
        </p:nvCxnSpPr>
        <p:spPr>
          <a:xfrm>
            <a:off x="4523105" y="1798638"/>
            <a:ext cx="0" cy="14652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64"/>
          <p:cNvCxnSpPr/>
          <p:nvPr/>
        </p:nvCxnSpPr>
        <p:spPr>
          <a:xfrm>
            <a:off x="7577455" y="1798638"/>
            <a:ext cx="0" cy="14652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文本框 104"/>
          <p:cNvSpPr txBox="1"/>
          <p:nvPr/>
        </p:nvSpPr>
        <p:spPr>
          <a:xfrm>
            <a:off x="559435" y="2989580"/>
            <a:ext cx="91249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</a:t>
            </a:r>
            <a:r>
              <a:rPr lang="zh-CN" altLang="en-US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zh-CN" altLang="en-US" sz="1400" b="1" noProof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930275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302420" y="3053231"/>
            <a:ext cx="3150357" cy="511504"/>
            <a:chOff x="6339097" y="1573726"/>
            <a:chExt cx="3744416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394247" y="1614014"/>
              <a:ext cx="3335359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项目风险管理</a:t>
              </a:r>
              <a:endParaRPr lang="zh-CN" altLang="zh-CN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2718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34791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374" name="组合 24"/>
          <p:cNvGrpSpPr/>
          <p:nvPr/>
        </p:nvGrpSpPr>
        <p:grpSpPr bwMode="auto">
          <a:xfrm>
            <a:off x="6230938" y="930275"/>
            <a:ext cx="3151187" cy="512763"/>
            <a:chOff x="6339097" y="3296031"/>
            <a:chExt cx="3744416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8399" name="矩形 26"/>
            <p:cNvSpPr>
              <a:spLocks noChangeArrowheads="1"/>
            </p:cNvSpPr>
            <p:nvPr/>
          </p:nvSpPr>
          <p:spPr bwMode="auto">
            <a:xfrm>
              <a:off x="6442469" y="3336571"/>
              <a:ext cx="3639912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医院信息系统现状与目标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067050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380" name="组合 24"/>
          <p:cNvGrpSpPr/>
          <p:nvPr/>
        </p:nvGrpSpPr>
        <p:grpSpPr bwMode="auto">
          <a:xfrm>
            <a:off x="6238875" y="1635125"/>
            <a:ext cx="3149600" cy="777875"/>
            <a:chOff x="6339097" y="3296031"/>
            <a:chExt cx="3744416" cy="777078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065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8397" name="矩形 27"/>
            <p:cNvSpPr>
              <a:spLocks noChangeArrowheads="1"/>
            </p:cNvSpPr>
            <p:nvPr/>
          </p:nvSpPr>
          <p:spPr bwMode="auto">
            <a:xfrm>
              <a:off x="6490889" y="3336319"/>
              <a:ext cx="3414385" cy="736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项目范围介绍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78777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382" name="组合 24"/>
          <p:cNvGrpSpPr/>
          <p:nvPr/>
        </p:nvGrpSpPr>
        <p:grpSpPr bwMode="auto">
          <a:xfrm>
            <a:off x="6238875" y="2349500"/>
            <a:ext cx="3149600" cy="511175"/>
            <a:chOff x="6339097" y="3296031"/>
            <a:chExt cx="3744416" cy="510866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08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8395" name="矩形 31"/>
            <p:cNvSpPr>
              <a:spLocks noChangeArrowheads="1"/>
            </p:cNvSpPr>
            <p:nvPr/>
          </p:nvSpPr>
          <p:spPr bwMode="auto">
            <a:xfrm>
              <a:off x="6479513" y="3336629"/>
              <a:ext cx="3425839" cy="428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项目进度计划与里程碑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0850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384" name="组合 24"/>
          <p:cNvGrpSpPr/>
          <p:nvPr/>
        </p:nvGrpSpPr>
        <p:grpSpPr bwMode="auto">
          <a:xfrm>
            <a:off x="6262688" y="3784600"/>
            <a:ext cx="3151187" cy="777875"/>
            <a:chOff x="6339097" y="3296031"/>
            <a:chExt cx="3744416" cy="777639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10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8393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737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项目团队与职责分工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2763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58386" name="组合 24"/>
          <p:cNvGrpSpPr/>
          <p:nvPr/>
        </p:nvGrpSpPr>
        <p:grpSpPr bwMode="auto">
          <a:xfrm>
            <a:off x="6262688" y="4503738"/>
            <a:ext cx="3151187" cy="511175"/>
            <a:chOff x="6339097" y="3296031"/>
            <a:chExt cx="3744416" cy="511504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8391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项目沟通协调机制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8387" name="组合 24"/>
          <p:cNvGrpSpPr/>
          <p:nvPr/>
        </p:nvGrpSpPr>
        <p:grpSpPr bwMode="auto">
          <a:xfrm>
            <a:off x="6262688" y="5208588"/>
            <a:ext cx="3151187" cy="777875"/>
            <a:chOff x="6339097" y="3296031"/>
            <a:chExt cx="3744416" cy="777997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25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58389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737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项目预期成果展示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项目风险预警</a:t>
            </a:r>
            <a:endParaRPr lang="en-US" altLang="zh-CN" sz="2800" b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 bwMode="auto">
          <a:xfrm>
            <a:off x="6026784" y="1696084"/>
            <a:ext cx="5207635" cy="3919854"/>
            <a:chOff x="3912655" y="3999678"/>
            <a:chExt cx="4756399" cy="757052"/>
          </a:xfrm>
        </p:grpSpPr>
        <p:sp>
          <p:nvSpPr>
            <p:cNvPr id="12" name="圆角矩形 11"/>
            <p:cNvSpPr/>
            <p:nvPr/>
          </p:nvSpPr>
          <p:spPr>
            <a:xfrm>
              <a:off x="4132467" y="3999678"/>
              <a:ext cx="4536587" cy="757052"/>
            </a:xfrm>
            <a:prstGeom prst="roundRect">
              <a:avLst>
                <a:gd name="adj" fmla="val 7227"/>
              </a:avLst>
            </a:prstGeom>
            <a:noFill/>
            <a:ln w="952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21"/>
            <p:cNvSpPr txBox="1"/>
            <p:nvPr/>
          </p:nvSpPr>
          <p:spPr>
            <a:xfrm>
              <a:off x="3912655" y="4053761"/>
              <a:ext cx="4638084" cy="418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lvl="1" indent="-285750" algn="just" eaLnBrk="1" hangingPunct="1">
                <a:lnSpc>
                  <a:spcPct val="150000"/>
                </a:lnSpc>
                <a:spcAft>
                  <a:spcPts val="0"/>
                </a:spcAft>
                <a:buClrTx/>
                <a:buSzTx/>
                <a:buFont typeface="+mj-lt"/>
                <a:buAutoNum type="arabicPeriod"/>
                <a:defRPr/>
              </a:pP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前期硬件资源申请</a:t>
              </a:r>
              <a:r>
                <a:rPr lang="en-US" altLang="zh-CN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</a:t>
              </a: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信息科</a:t>
              </a:r>
              <a:endParaRPr lang="zh-CN" altLang="en-US" sz="1800" kern="10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742950" lvl="1" indent="-285750" algn="just" eaLnBrk="1" hangingPunct="1">
                <a:lnSpc>
                  <a:spcPct val="150000"/>
                </a:lnSpc>
                <a:spcAft>
                  <a:spcPts val="0"/>
                </a:spcAft>
                <a:buClrTx/>
                <a:buSzTx/>
                <a:buFont typeface="+mj-lt"/>
                <a:buAutoNum type="arabicPeriod"/>
                <a:defRPr/>
              </a:pP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软件数据、接口是否准确沟通</a:t>
              </a:r>
              <a:r>
                <a:rPr lang="en-US" altLang="zh-CN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</a:t>
              </a: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药剂科</a:t>
              </a:r>
              <a:endParaRPr lang="zh-CN" altLang="en-US" sz="1800" kern="10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742950" lvl="1" indent="-285750" algn="just" eaLnBrk="1" hangingPunct="1">
                <a:lnSpc>
                  <a:spcPct val="150000"/>
                </a:lnSpc>
                <a:spcAft>
                  <a:spcPts val="0"/>
                </a:spcAft>
                <a:buClrTx/>
                <a:buSzTx/>
                <a:buFont typeface="+mj-lt"/>
                <a:buAutoNum type="arabicPeriod"/>
                <a:defRPr/>
              </a:pP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项目范围确认及预期值</a:t>
              </a: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管理</a:t>
              </a:r>
              <a:endParaRPr lang="zh-CN" altLang="en-US" sz="1800" kern="10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742950" lvl="1" indent="-285750" algn="just" eaLnBrk="1" hangingPunct="1">
                <a:lnSpc>
                  <a:spcPct val="150000"/>
                </a:lnSpc>
                <a:spcAft>
                  <a:spcPts val="0"/>
                </a:spcAft>
                <a:buClrTx/>
                <a:buSzTx/>
                <a:buFont typeface="+mj-lt"/>
                <a:buAutoNum type="arabicPeriod"/>
                <a:defRPr/>
              </a:pPr>
              <a:r>
                <a:rPr lang="zh-CN" altLang="en-US" sz="1800" kern="100" smtClean="0">
                  <a:ln>
                    <a:noFill/>
                  </a:ln>
                  <a:solidFill>
                    <a:srgbClr val="4F81B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培训内容不够全面、参训人员未到齐</a:t>
              </a:r>
              <a:endParaRPr lang="zh-CN" altLang="en-US" sz="1800" kern="10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742950" lvl="1" indent="-285750" algn="just" eaLnBrk="1" hangingPunct="1">
                <a:lnSpc>
                  <a:spcPct val="150000"/>
                </a:lnSpc>
                <a:spcAft>
                  <a:spcPts val="0"/>
                </a:spcAft>
                <a:buClrTx/>
                <a:buSzTx/>
                <a:buFont typeface="+mj-lt"/>
                <a:buAutoNum type="arabicPeriod"/>
                <a:defRPr/>
              </a:pPr>
              <a:endParaRPr lang="zh-CN" altLang="en-US" sz="1800" kern="10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93445" y="1783715"/>
            <a:ext cx="4896485" cy="4265228"/>
            <a:chOff x="268" y="2390"/>
            <a:chExt cx="8823" cy="7508"/>
          </a:xfrm>
        </p:grpSpPr>
        <p:sp>
          <p:nvSpPr>
            <p:cNvPr id="60419" name="Content Placeholder 2"/>
            <p:cNvSpPr txBox="1">
              <a:spLocks noChangeArrowheads="1"/>
            </p:cNvSpPr>
            <p:nvPr/>
          </p:nvSpPr>
          <p:spPr bwMode="auto">
            <a:xfrm>
              <a:off x="1303" y="8481"/>
              <a:ext cx="4142" cy="1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450975"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defTabSz="1450975"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defTabSz="1450975"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defTabSz="1450975"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defTabSz="1450975"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633980" indent="-347980" defTabSz="145097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3091180" indent="-347980" defTabSz="145097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548380" indent="-347980" defTabSz="145097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4005580" indent="-347980" defTabSz="145097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1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" name="直接连接符 1"/>
            <p:cNvCxnSpPr/>
            <p:nvPr/>
          </p:nvCxnSpPr>
          <p:spPr>
            <a:xfrm flipV="1">
              <a:off x="3326" y="3665"/>
              <a:ext cx="3792" cy="377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3555" y="5146"/>
              <a:ext cx="3209" cy="82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693" y="5766"/>
              <a:ext cx="1576" cy="2130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1340" y="5511"/>
              <a:ext cx="288" cy="1915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6611" y="5308"/>
              <a:ext cx="2117" cy="2118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数据、</a:t>
              </a: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接口衔接</a:t>
              </a:r>
              <a:endPara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3768" y="7587"/>
              <a:ext cx="2118" cy="211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预期</a:t>
              </a: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  <a:endPara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268" y="7138"/>
              <a:ext cx="2115" cy="2118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培训</a:t>
              </a:r>
              <a:endPara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</a:t>
              </a:r>
              <a:endPara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1174" y="3036"/>
              <a:ext cx="2696" cy="282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38"/>
            <p:cNvSpPr txBox="1"/>
            <p:nvPr/>
          </p:nvSpPr>
          <p:spPr>
            <a:xfrm>
              <a:off x="1369" y="3796"/>
              <a:ext cx="2373" cy="13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400" b="1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4400" b="0" kern="0" noProof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</a:t>
              </a:r>
              <a:endParaRPr lang="zh-CN" altLang="en-US" sz="4400" b="0" kern="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6973" y="2390"/>
              <a:ext cx="2118" cy="2117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noProof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硬件资源</a:t>
              </a:r>
              <a:endPara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风险应对措施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03295" y="4384675"/>
            <a:ext cx="1108075" cy="746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sym typeface="+mn-ea"/>
              </a:rPr>
              <a:t>硬件资源</a:t>
            </a:r>
            <a:endParaRPr lang="zh-CN" altLang="en-US" sz="2000" b="1">
              <a:solidFill>
                <a:schemeClr val="tx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7031355" y="4384675"/>
            <a:ext cx="1174115" cy="74676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sym typeface="+mn-ea"/>
              </a:rPr>
              <a:t>数据</a:t>
            </a:r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sym typeface="+mn-ea"/>
              </a:rPr>
              <a:t>衔接</a:t>
            </a:r>
            <a:endParaRPr lang="zh-CN" altLang="en-US" sz="18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sym typeface="+mn-ea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sym typeface="+mn-ea"/>
              </a:rPr>
              <a:t>接口衔接</a:t>
            </a:r>
            <a:endParaRPr lang="zh-CN" altLang="en-US" sz="18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4942840" y="6040755"/>
            <a:ext cx="1669415" cy="490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sym typeface="+mn-ea"/>
              </a:rPr>
              <a:t>培训效果</a:t>
            </a:r>
            <a:endParaRPr lang="zh-CN" altLang="en-US" sz="18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sym typeface="+mn-ea"/>
              </a:rPr>
              <a:t>预期管理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42840" y="3165475"/>
            <a:ext cx="157099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18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项目范围控制</a:t>
            </a:r>
            <a:endParaRPr lang="zh-CN" altLang="en-US" sz="18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19" name="图片 18" descr="/data/temp/e9c3a959-06b2-11ef-8f75-2698c23f9e2d.jpg@base@tag=imgScale&amp;m=1&amp;w=1153&amp;h=1153&amp;q=95e9c3a959-06b2-11ef-8f75-2698c23f9e2d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16059" r="17294"/>
          <a:stretch>
            <a:fillRect/>
          </a:stretch>
        </p:blipFill>
        <p:spPr>
          <a:xfrm>
            <a:off x="4511040" y="3646170"/>
            <a:ext cx="2423795" cy="2223135"/>
          </a:xfrm>
          <a:custGeom>
            <a:avLst/>
            <a:gdLst>
              <a:gd name="connsiteX0" fmla="*/ 2289799 w 4579598"/>
              <a:gd name="connsiteY0" fmla="*/ 0 h 4579598"/>
              <a:gd name="connsiteX1" fmla="*/ 4579598 w 4579598"/>
              <a:gd name="connsiteY1" fmla="*/ 2289799 h 4579598"/>
              <a:gd name="connsiteX2" fmla="*/ 2289799 w 4579598"/>
              <a:gd name="connsiteY2" fmla="*/ 4579598 h 4579598"/>
              <a:gd name="connsiteX3" fmla="*/ 0 w 4579598"/>
              <a:gd name="connsiteY3" fmla="*/ 2289799 h 4579598"/>
              <a:gd name="connsiteX4" fmla="*/ 2289799 w 4579598"/>
              <a:gd name="connsiteY4" fmla="*/ 0 h 457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9598" h="4579598">
                <a:moveTo>
                  <a:pt x="2289799" y="0"/>
                </a:moveTo>
                <a:cubicBezTo>
                  <a:pt x="3554420" y="0"/>
                  <a:pt x="4579598" y="1025178"/>
                  <a:pt x="4579598" y="2289799"/>
                </a:cubicBezTo>
                <a:cubicBezTo>
                  <a:pt x="4579598" y="3554420"/>
                  <a:pt x="3554420" y="4579598"/>
                  <a:pt x="2289799" y="4579598"/>
                </a:cubicBezTo>
                <a:cubicBezTo>
                  <a:pt x="1025178" y="4579598"/>
                  <a:pt x="0" y="3554420"/>
                  <a:pt x="0" y="2289799"/>
                </a:cubicBezTo>
                <a:cubicBezTo>
                  <a:pt x="0" y="1025178"/>
                  <a:pt x="1025178" y="0"/>
                  <a:pt x="2289799" y="0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022350"/>
            <a:ext cx="11562080" cy="1927860"/>
          </a:xfrm>
          <a:prstGeom prst="rect">
            <a:avLst/>
          </a:prstGeom>
        </p:spPr>
      </p:pic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930275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320208" y="3759356"/>
            <a:ext cx="3150357" cy="511504"/>
            <a:chOff x="6339097" y="1573726"/>
            <a:chExt cx="3744416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394247" y="1614014"/>
              <a:ext cx="3335359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项目团队架构</a:t>
              </a:r>
              <a:endParaRPr lang="en-US" altLang="zh-CN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2718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34791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3494" name="组合 24"/>
          <p:cNvGrpSpPr/>
          <p:nvPr/>
        </p:nvGrpSpPr>
        <p:grpSpPr bwMode="auto">
          <a:xfrm>
            <a:off x="6230938" y="930275"/>
            <a:ext cx="3151187" cy="512763"/>
            <a:chOff x="6339097" y="3296031"/>
            <a:chExt cx="3744794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794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3519" name="矩形 26"/>
            <p:cNvSpPr>
              <a:spLocks noChangeArrowheads="1"/>
            </p:cNvSpPr>
            <p:nvPr/>
          </p:nvSpPr>
          <p:spPr bwMode="auto">
            <a:xfrm>
              <a:off x="6442469" y="3336571"/>
              <a:ext cx="3641422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医院信息系统现状与目标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067050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3500" name="组合 24"/>
          <p:cNvGrpSpPr/>
          <p:nvPr/>
        </p:nvGrpSpPr>
        <p:grpSpPr bwMode="auto">
          <a:xfrm>
            <a:off x="6238875" y="1609725"/>
            <a:ext cx="3149600" cy="777875"/>
            <a:chOff x="6339097" y="3296031"/>
            <a:chExt cx="3744416" cy="777078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065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3517" name="矩形 27"/>
            <p:cNvSpPr>
              <a:spLocks noChangeArrowheads="1"/>
            </p:cNvSpPr>
            <p:nvPr/>
          </p:nvSpPr>
          <p:spPr bwMode="auto">
            <a:xfrm>
              <a:off x="6490889" y="3336319"/>
              <a:ext cx="3414385" cy="736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项目范围介绍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78777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3502" name="组合 24"/>
          <p:cNvGrpSpPr/>
          <p:nvPr/>
        </p:nvGrpSpPr>
        <p:grpSpPr bwMode="auto">
          <a:xfrm>
            <a:off x="6238875" y="2324100"/>
            <a:ext cx="3149600" cy="511175"/>
            <a:chOff x="6339097" y="3296031"/>
            <a:chExt cx="3744416" cy="510866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08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3515" name="矩形 31"/>
            <p:cNvSpPr>
              <a:spLocks noChangeArrowheads="1"/>
            </p:cNvSpPr>
            <p:nvPr/>
          </p:nvSpPr>
          <p:spPr bwMode="auto">
            <a:xfrm>
              <a:off x="6479513" y="3336629"/>
              <a:ext cx="3597206" cy="428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项目进度计划与里程碑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0850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3504" name="组合 24"/>
          <p:cNvGrpSpPr/>
          <p:nvPr/>
        </p:nvGrpSpPr>
        <p:grpSpPr bwMode="auto">
          <a:xfrm>
            <a:off x="6262688" y="3027363"/>
            <a:ext cx="3151187" cy="777875"/>
            <a:chOff x="6339097" y="3296031"/>
            <a:chExt cx="3744416" cy="777078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065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3513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736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项目风险管理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2763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3506" name="组合 24"/>
          <p:cNvGrpSpPr/>
          <p:nvPr/>
        </p:nvGrpSpPr>
        <p:grpSpPr bwMode="auto">
          <a:xfrm>
            <a:off x="6262688" y="4478338"/>
            <a:ext cx="3151187" cy="511175"/>
            <a:chOff x="6339097" y="3296031"/>
            <a:chExt cx="3744416" cy="511504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3511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项目沟通协调机制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507" name="组合 24"/>
          <p:cNvGrpSpPr/>
          <p:nvPr/>
        </p:nvGrpSpPr>
        <p:grpSpPr bwMode="auto">
          <a:xfrm>
            <a:off x="6262688" y="5183188"/>
            <a:ext cx="3151187" cy="511175"/>
            <a:chOff x="6339097" y="3296031"/>
            <a:chExt cx="3744416" cy="511504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3509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项目预期成果展示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7618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项目团队架构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4579" name="表格 24578"/>
          <p:cNvGraphicFramePr/>
          <p:nvPr/>
        </p:nvGraphicFramePr>
        <p:xfrm>
          <a:off x="635000" y="1676400"/>
          <a:ext cx="10910570" cy="3847117"/>
        </p:xfrm>
        <a:graphic>
          <a:graphicData uri="http://schemas.openxmlformats.org/drawingml/2006/table">
            <a:tbl>
              <a:tblPr/>
              <a:tblGrid>
                <a:gridCol w="1353185"/>
                <a:gridCol w="2072005"/>
                <a:gridCol w="2889885"/>
                <a:gridCol w="1804670"/>
                <a:gridCol w="2790825"/>
              </a:tblGrid>
              <a:tr h="411480"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ctr" eaLnBrk="1" fontAlgn="base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endParaRPr lang="zh-CN" altLang="en-US" sz="15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5" marR="91425" marT="45709" marB="45709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ctr" eaLnBrk="1" fontAlgn="base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职务</a:t>
                      </a:r>
                      <a:endParaRPr lang="zh-CN" altLang="en-US" sz="15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1425" marR="91425" marT="45709" marB="45709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ctr" eaLnBrk="1" fontAlgn="base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本项目职务</a:t>
                      </a:r>
                      <a:endParaRPr lang="zh-CN" altLang="en-US" sz="15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35" marR="91435" marT="45714" marB="45714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ctr" eaLnBrk="1" fontAlgn="base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电话</a:t>
                      </a:r>
                      <a:endParaRPr lang="zh-CN" altLang="en-US" sz="15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5" marR="91425" marT="45709" marB="45709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algn="ctr" eaLnBrk="1" fontAlgn="base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邮箱</a:t>
                      </a:r>
                      <a:endParaRPr lang="zh-CN" altLang="en-US" sz="15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5" marR="91425" marT="45709" marB="45709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411447">
                <a:tc gridSpan="5"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indent="0" eaLnBrk="1" fontAlgn="base" latinLnBrk="0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5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项目管理办公室</a:t>
                      </a:r>
                      <a:endParaRPr lang="zh-CN" altLang="en-US" sz="15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5" marR="91425" marT="45709" marB="45709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00000"/>
                      </a:schemeClr>
                    </a:solidFill>
                  </a:tcPr>
                </a:tc>
                <a:tc hMerge="1">
                  <a:tcP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lvl="0" indent="-408305" algn="ctr" eaLnBrk="1" fontAlgn="auto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xxx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408305" algn="l" eaLnBrk="1" fontAlgn="auto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院长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408305" algn="l" eaLnBrk="1" fontAlgn="auto" latinLnBrk="0" hangingPunct="1">
                        <a:spcBef>
                          <a:spcPct val="200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 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院方负责人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eaLnBrk="1" fontAlgn="base" latinLnBrk="0" hangingPunct="1">
                        <a:buNone/>
                      </a:pPr>
                      <a:endParaRPr lang="en-US" altLang="zh-CN" sz="1400" b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eaLnBrk="1" fontAlgn="auto" latinLnBrk="0" hangingPunct="1">
                        <a:buNone/>
                      </a:pP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ctr" eaLnBrk="1" fontAlgn="auto" latinLnBrk="0" hangingPunct="1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xxx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l" eaLnBrk="1" fontAlgn="auto" latinLnBrk="0" hangingPunct="1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副院长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l" eaLnBrk="1" fontAlgn="auto" latinLnBrk="0" hangingPunct="1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院方项目组负</a:t>
                      </a: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责人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ctr" eaLnBrk="1" fontAlgn="base" latinLnBrk="0" hangingPunct="1">
                        <a:buNone/>
                      </a:pPr>
                      <a:endParaRPr lang="en-US" altLang="zh-CN" sz="1400" b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l" eaLnBrk="1" fontAlgn="auto" latinLnBrk="0" hangingPunct="1">
                        <a:buNone/>
                      </a:pP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04000">
                <a:tc>
                  <a:txBody>
                    <a:bodyPr/>
                    <a:p>
                      <a:pPr marL="0" lvl="0" algn="ctr" eaLnBrk="1" fontAlgn="auto" latinLnBrk="0" hangingPunct="1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xxx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lvl="0" algn="l" eaLnBrk="1" fontAlgn="auto" latinLnBrk="0" hangingPunct="1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信息科主任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lvl="0" algn="l" eaLnBrk="1" fontAlgn="auto" latinLnBrk="0" hangingPunct="1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 院方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项目、</a:t>
                      </a: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技术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对接人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lvl="0" algn="ctr" eaLnBrk="1" fontAlgn="base" latinLnBrk="0" hangingPunct="1">
                        <a:buNone/>
                      </a:pPr>
                      <a:endParaRPr lang="en-US" altLang="zh-CN" sz="1400" b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p>
                      <a:pPr marL="0" lvl="0" algn="l" eaLnBrk="1" fontAlgn="auto" latinLnBrk="0" hangingPunct="1">
                        <a:buNone/>
                      </a:pP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lvl="0" algn="ctr" eaLnBrk="1" fontAlgn="auto" latinLnBrk="0" hangingPunct="1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xxx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eaLnBrk="1" fontAlgn="auto" latinLnBrk="0" hangingPunct="1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药剂科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主任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eaLnBrk="1" fontAlgn="auto" latinLnBrk="0" hangingPunct="1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 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负责协调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药学平台系统上线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eaLnBrk="1" fontAlgn="base" latinLnBrk="0" hangingPunct="1">
                        <a:buNone/>
                      </a:pPr>
                      <a:endParaRPr lang="en-US" altLang="zh-CN" sz="1400" b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eaLnBrk="1" fontAlgn="auto" latinLnBrk="0" hangingPunct="1">
                        <a:buNone/>
                      </a:pP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04000"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ctr" eaLnBrk="1" fontAlgn="auto" latinLnBrk="0" hangingPunct="1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xxx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l" eaLnBrk="1" fontAlgn="auto" latinLnBrk="0" hangingPunct="1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药剂科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老师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l" eaLnBrk="1" fontAlgn="auto" latinLnBrk="0" hangingPunct="1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 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负责协调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宋体" panose="02010600030101010101" pitchFamily="2" charset="-122"/>
                        </a:rPr>
                        <a:t>药学平台系统上线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ctr" eaLnBrk="1" fontAlgn="base" latinLnBrk="0" hangingPunct="1">
                        <a:buNone/>
                      </a:pPr>
                      <a:endParaRPr lang="en-US" altLang="zh-CN" sz="1400" b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408305" lvl="0" indent="-40830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800" b="1" u="none" kern="1200">
                          <a:latin typeface="Calibri" panose="020F0502020204030204"/>
                        </a:defRPr>
                      </a:lvl1pPr>
                      <a:lvl2pPr marL="408305" lvl="1" indent="542925" algn="l" defTabSz="1087755" eaLnBrk="0" fontAlgn="ctr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4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2pPr>
                      <a:lvl3pPr marL="408305" lvl="2" indent="1089025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20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3pPr>
                      <a:lvl4pPr marL="408305" lvl="3" indent="1631950" algn="l" defTabSz="1087755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•"/>
                        <a:defRPr sz="1800" b="1" i="1" u="none" kern="1200">
                          <a:latin typeface="Arial" panose="020B0604020202020204" pitchFamily="34" charset="0"/>
                          <a:ea typeface="Arial" panose="020B0604020202020204" pitchFamily="34" charset="0"/>
                        </a:defRPr>
                      </a:lvl4pPr>
                      <a:lvl5pPr marL="408305" lvl="4" indent="2176780" algn="l" defTabSz="1087755" eaLnBrk="0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1" i="1" u="none" kern="1200" baseline="3000">
                          <a:solidFill>
                            <a:srgbClr val="F5F5F5"/>
                          </a:solidFill>
                          <a:effectDag name="">
                            <a:effect ref="fillLine"/>
                            <a:cont type="tree" name="">
                              <a:effect ref="fillLine"/>
                              <a:outerShdw dist="38100" dir="13500000" algn="br">
                                <a:srgbClr val="FFFFFF"/>
                              </a:outerShdw>
                            </a:cont>
                            <a:cont type="tree" name="">
                              <a:effect ref="fillLine"/>
                              <a:outerShdw dist="38100" dir="2700000" algn="tl">
                                <a:srgbClr val="999999"/>
                              </a:outerShdw>
                            </a:cont>
                          </a:effectDag>
                          <a:latin typeface="Arial" panose="020B0604020202020204" pitchFamily="34" charset="0"/>
                          <a:ea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</a:lstStyle>
                    <a:p>
                      <a:pPr marL="0" lvl="0" algn="l" eaLnBrk="1" fontAlgn="auto" latinLnBrk="0" hangingPunct="1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Click="0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7618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项目团队架构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28015" y="1552575"/>
          <a:ext cx="10933430" cy="4275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545"/>
                <a:gridCol w="1641475"/>
                <a:gridCol w="3253740"/>
                <a:gridCol w="1802130"/>
                <a:gridCol w="2796540"/>
              </a:tblGrid>
              <a:tr h="477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姓名</a:t>
                      </a:r>
                      <a:endParaRPr lang="zh-CN" altLang="zh-CN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  <a:endParaRPr lang="zh-CN" altLang="zh-CN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本项目职务</a:t>
                      </a:r>
                      <a:endParaRPr lang="zh-CN" altLang="zh-CN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电话</a:t>
                      </a:r>
                      <a:endParaRPr lang="zh-CN" altLang="zh-CN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zh-CN" sz="15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邮箱</a:t>
                      </a:r>
                      <a:endParaRPr lang="zh-CN" altLang="zh-CN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</a:tr>
              <a:tr h="478102">
                <a:tc gridSpan="5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zh-CN" sz="1500" b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坤发科技项目成员</a:t>
                      </a:r>
                      <a:endParaRPr lang="zh-CN" altLang="zh-CN" sz="1500" b="0">
                        <a:solidFill>
                          <a:schemeClr val="l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27" marR="91427" marT="45710" marB="45710"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746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刘士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坤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总负责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总体协调</a:t>
                      </a:r>
                      <a:endParaRPr lang="en-US" altLang="zh-CN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4775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吴友辉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研发部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研发经理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技术支持）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45460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于海飞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实施部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项目经理（现场协调）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47810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杨迪欣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产品经理（产品</a:t>
                      </a: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顾问</a:t>
                      </a: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4775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陈一运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实施部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工程师（</a:t>
                      </a:r>
                      <a:r>
                        <a:rPr lang="en-US" altLang="zh-CN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实施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47746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朱晓宇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药学部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药学工程师（药学</a:t>
                      </a:r>
                      <a:r>
                        <a:rPr lang="zh-CN" altLang="en-US" sz="15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支持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477467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袁鹏程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药学部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药学工程师（</a:t>
                      </a:r>
                      <a:r>
                        <a:rPr lang="zh-CN" altLang="en-US" sz="1500" b="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药学支持）</a:t>
                      </a: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5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</p:spTree>
  </p:cSld>
  <p:clrMapOvr>
    <a:masterClrMapping/>
  </p:clrMapOvr>
  <p:transition spd="slow" advClick="0" advTm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7618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医院近期配合事项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8505" y="1149985"/>
          <a:ext cx="11138535" cy="52781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94665"/>
                <a:gridCol w="1967865"/>
                <a:gridCol w="2303780"/>
                <a:gridCol w="3910330"/>
                <a:gridCol w="1201420"/>
                <a:gridCol w="1260475"/>
              </a:tblGrid>
              <a:tr h="404495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zh-CN" altLang="en-US" sz="2400" b="1" u="none" strike="noStrike" dirty="0">
                          <a:solidFill>
                            <a:srgbClr val="4F80B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近期需要配合工作清单</a:t>
                      </a:r>
                      <a:endParaRPr lang="zh-CN" altLang="en-US" sz="2400" b="1" i="0" u="none" strike="noStrike" dirty="0">
                        <a:solidFill>
                          <a:srgbClr val="4F80B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1023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u="none" strike="noStrike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400" b="1" i="0" u="none" strike="noStrike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u="none" strike="noStrike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工作事项</a:t>
                      </a:r>
                      <a:endParaRPr lang="zh-CN" altLang="en-US" sz="1400" b="1" i="0" u="none" strike="noStrike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配合科室</a:t>
                      </a:r>
                      <a:endParaRPr lang="zh-CN" altLang="en-US" sz="1400" b="1" i="0" u="none" strike="noStrike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i="0" u="none" strike="noStrike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b="1" i="0" u="none" strike="noStrike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u="none" strike="noStrike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预计开始日期</a:t>
                      </a:r>
                      <a:endParaRPr lang="zh-CN" altLang="en-US" sz="1400" b="1" i="0" u="none" strike="noStrike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400" b="1" u="none" strike="noStrike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要求完成日期</a:t>
                      </a:r>
                      <a:endParaRPr lang="zh-CN" altLang="en-US" sz="1400" b="1" i="0" u="none" strike="noStrike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</a:tr>
              <a:tr h="79248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en-US" altLang="zh-CN" sz="14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项目启动会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药剂科、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信息科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需各科室配合参加调研会议，共同确认调研报告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</a:tr>
              <a:tr h="76771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en-US" altLang="zh-CN" sz="14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数据清单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药剂科、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信息科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见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2" action="ppaction://hlinkfile"/>
                        </a:rPr>
                        <a:t>附件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2" action="ppaction://hlinkfile"/>
                        </a:rPr>
                        <a:t>1.1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/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3" action="ppaction://hlinkfile"/>
                        </a:rPr>
                        <a:t>附件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3" action="ppaction://hlinkfile"/>
                        </a:rPr>
                        <a:t>1.2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/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4" action="ppaction://hlinkfile"/>
                        </a:rPr>
                        <a:t>附件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  <a:hlinkClick r:id="rId4" action="ppaction://hlinkfile"/>
                        </a:rPr>
                        <a:t>1.3</a:t>
                      </a:r>
                      <a:endParaRPr lang="en-US" altLang="zh-CN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  <a:hlinkClick r:id="rId4" action="ppaction://hlinkfile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</a:tr>
              <a:tr h="669925"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lang="en-US" altLang="zh-CN" sz="1400" b="1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lang="en-US" altLang="zh-CN" sz="14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软件功能清单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药剂科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见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P</a:t>
                      </a:r>
                      <a:r>
                        <a:rPr lang="en-US" altLang="zh-CN" sz="10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6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功能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总览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1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</a:tr>
              <a:tr h="6096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endParaRPr lang="en-US" altLang="zh-CN" sz="14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硬件资源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清单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信息科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见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5" action="ppaction://hlinkfile"/>
                        </a:rPr>
                        <a:t>附件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hlinkClick r:id="rId5" action="ppaction://hlinkfile"/>
                        </a:rPr>
                        <a:t>3</a:t>
                      </a:r>
                      <a:endParaRPr lang="en-US" altLang="zh-CN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</a:tr>
              <a:tr h="685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1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endParaRPr lang="en-US" altLang="zh-CN" sz="14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内网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/VPN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账号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密码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信息科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用于现场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异地办公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</a:tr>
              <a:tr h="7385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400" b="1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endParaRPr lang="en-US" altLang="zh-CN" sz="14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办公环境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信息科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药剂科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办公环境（</a:t>
                      </a:r>
                      <a:r>
                        <a:rPr lang="en-US" altLang="zh-CN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b="0" u="none" strike="noStrike" kern="1200" dirty="0">
                          <a:solidFill>
                            <a:schemeClr val="accent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人）</a:t>
                      </a:r>
                      <a:endParaRPr lang="zh-CN" altLang="en-US" sz="1400" b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1" i="0" u="none" strike="noStrike" kern="1200" dirty="0">
                        <a:solidFill>
                          <a:schemeClr val="accent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698" marR="12698" marT="12696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1002030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302420" y="4577884"/>
            <a:ext cx="3150357" cy="511504"/>
            <a:chOff x="6339097" y="1573726"/>
            <a:chExt cx="3744416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394247" y="1614014"/>
              <a:ext cx="3335359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项目沟通协调机制</a:t>
              </a:r>
              <a:endParaRPr lang="zh-CN" altLang="zh-CN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9894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41966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9638" name="组合 24"/>
          <p:cNvGrpSpPr/>
          <p:nvPr/>
        </p:nvGrpSpPr>
        <p:grpSpPr bwMode="auto">
          <a:xfrm>
            <a:off x="6249988" y="960755"/>
            <a:ext cx="3151187" cy="512763"/>
            <a:chOff x="6339097" y="3296031"/>
            <a:chExt cx="3744416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9663" name="矩形 26"/>
            <p:cNvSpPr>
              <a:spLocks noChangeArrowheads="1"/>
            </p:cNvSpPr>
            <p:nvPr/>
          </p:nvSpPr>
          <p:spPr bwMode="auto">
            <a:xfrm>
              <a:off x="6442469" y="3336546"/>
              <a:ext cx="3625576" cy="427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医院信息系统现状与目标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138805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9644" name="组合 24"/>
          <p:cNvGrpSpPr/>
          <p:nvPr/>
        </p:nvGrpSpPr>
        <p:grpSpPr bwMode="auto">
          <a:xfrm>
            <a:off x="6238875" y="1719580"/>
            <a:ext cx="3149600" cy="1085850"/>
            <a:chOff x="6339097" y="3296031"/>
            <a:chExt cx="3744416" cy="1084866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071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9661" name="矩形 27"/>
            <p:cNvSpPr>
              <a:spLocks noChangeArrowheads="1"/>
            </p:cNvSpPr>
            <p:nvPr/>
          </p:nvSpPr>
          <p:spPr bwMode="auto">
            <a:xfrm>
              <a:off x="6490889" y="3336319"/>
              <a:ext cx="3414385" cy="1044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项目范围介绍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85953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9646" name="组合 24"/>
          <p:cNvGrpSpPr/>
          <p:nvPr/>
        </p:nvGrpSpPr>
        <p:grpSpPr bwMode="auto">
          <a:xfrm>
            <a:off x="6238875" y="2433955"/>
            <a:ext cx="3149600" cy="511175"/>
            <a:chOff x="6339097" y="3296031"/>
            <a:chExt cx="3744416" cy="510651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065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9659" name="矩形 31"/>
            <p:cNvSpPr>
              <a:spLocks noChangeArrowheads="1"/>
            </p:cNvSpPr>
            <p:nvPr/>
          </p:nvSpPr>
          <p:spPr bwMode="auto">
            <a:xfrm>
              <a:off x="6479513" y="3336629"/>
              <a:ext cx="3517939" cy="428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项目进度计划与里程碑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8025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9648" name="组合 24"/>
          <p:cNvGrpSpPr/>
          <p:nvPr/>
        </p:nvGrpSpPr>
        <p:grpSpPr bwMode="auto">
          <a:xfrm>
            <a:off x="6262688" y="3137218"/>
            <a:ext cx="3151187" cy="511175"/>
            <a:chOff x="6339097" y="3296031"/>
            <a:chExt cx="3744416" cy="510867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086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9657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项目风险管理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9939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9650" name="组合 24"/>
          <p:cNvGrpSpPr/>
          <p:nvPr/>
        </p:nvGrpSpPr>
        <p:grpSpPr bwMode="auto">
          <a:xfrm>
            <a:off x="6262688" y="3864293"/>
            <a:ext cx="3151187" cy="511175"/>
            <a:chOff x="6339097" y="3296031"/>
            <a:chExt cx="3744416" cy="511909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9655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项目团队与职责分工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9651" name="组合 24"/>
          <p:cNvGrpSpPr/>
          <p:nvPr/>
        </p:nvGrpSpPr>
        <p:grpSpPr bwMode="auto">
          <a:xfrm>
            <a:off x="6262688" y="5293043"/>
            <a:ext cx="3151187" cy="511175"/>
            <a:chOff x="6339097" y="3296031"/>
            <a:chExt cx="3744416" cy="511504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9653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项目预期成果展示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Box 43"/>
          <p:cNvSpPr txBox="1">
            <a:spLocks noChangeArrowheads="1"/>
          </p:cNvSpPr>
          <p:nvPr/>
        </p:nvSpPr>
        <p:spPr bwMode="auto">
          <a:xfrm>
            <a:off x="2525713" y="204788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项目实施规范路径</a:t>
            </a:r>
            <a:endParaRPr lang="en-US" altLang="zh-CN" sz="2800" b="1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683" name="组合 188"/>
          <p:cNvGrpSpPr/>
          <p:nvPr/>
        </p:nvGrpSpPr>
        <p:grpSpPr bwMode="auto">
          <a:xfrm>
            <a:off x="5156200" y="1685925"/>
            <a:ext cx="1184275" cy="4064000"/>
            <a:chOff x="0" y="0"/>
            <a:chExt cx="888188" cy="3048886"/>
          </a:xfrm>
        </p:grpSpPr>
        <p:cxnSp>
          <p:nvCxnSpPr>
            <p:cNvPr id="71789" name="肘形连接符 191"/>
            <p:cNvCxnSpPr>
              <a:cxnSpLocks noChangeShapeType="1"/>
            </p:cNvCxnSpPr>
            <p:nvPr/>
          </p:nvCxnSpPr>
          <p:spPr bwMode="auto">
            <a:xfrm rot="5400000" flipH="1" flipV="1">
              <a:off x="-747761" y="1412908"/>
              <a:ext cx="3048886" cy="223013"/>
            </a:xfrm>
            <a:prstGeom prst="bentConnector3">
              <a:avLst>
                <a:gd name="adj1" fmla="val 100032"/>
              </a:avLst>
            </a:prstGeom>
            <a:noFill/>
            <a:ln w="19050">
              <a:solidFill>
                <a:srgbClr val="7F7F7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90" name="肘形连接符 192"/>
            <p:cNvCxnSpPr>
              <a:cxnSpLocks noChangeShapeType="1"/>
            </p:cNvCxnSpPr>
            <p:nvPr/>
          </p:nvCxnSpPr>
          <p:spPr bwMode="auto">
            <a:xfrm rot="16200000" flipH="1">
              <a:off x="-1128272" y="1255416"/>
              <a:ext cx="2921713" cy="665176"/>
            </a:xfrm>
            <a:prstGeom prst="bentConnector3">
              <a:avLst>
                <a:gd name="adj1" fmla="val 99889"/>
              </a:avLst>
            </a:prstGeom>
            <a:noFill/>
            <a:ln w="19050">
              <a:solidFill>
                <a:srgbClr val="7F7F7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1684" name="组合 193"/>
          <p:cNvGrpSpPr/>
          <p:nvPr/>
        </p:nvGrpSpPr>
        <p:grpSpPr bwMode="auto">
          <a:xfrm>
            <a:off x="7048500" y="1685925"/>
            <a:ext cx="1182688" cy="4064000"/>
            <a:chOff x="0" y="0"/>
            <a:chExt cx="888188" cy="3048886"/>
          </a:xfrm>
        </p:grpSpPr>
        <p:cxnSp>
          <p:nvCxnSpPr>
            <p:cNvPr id="71787" name="肘形连接符 194"/>
            <p:cNvCxnSpPr>
              <a:cxnSpLocks noChangeShapeType="1"/>
            </p:cNvCxnSpPr>
            <p:nvPr/>
          </p:nvCxnSpPr>
          <p:spPr bwMode="auto">
            <a:xfrm rot="5400000" flipH="1" flipV="1">
              <a:off x="-747761" y="1412908"/>
              <a:ext cx="3048886" cy="223013"/>
            </a:xfrm>
            <a:prstGeom prst="bentConnector3">
              <a:avLst>
                <a:gd name="adj1" fmla="val 100032"/>
              </a:avLst>
            </a:prstGeom>
            <a:noFill/>
            <a:ln w="19050">
              <a:solidFill>
                <a:srgbClr val="7F7F7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88" name="肘形连接符 195"/>
            <p:cNvCxnSpPr>
              <a:cxnSpLocks noChangeShapeType="1"/>
            </p:cNvCxnSpPr>
            <p:nvPr/>
          </p:nvCxnSpPr>
          <p:spPr bwMode="auto">
            <a:xfrm rot="16200000" flipH="1">
              <a:off x="-1128272" y="1255416"/>
              <a:ext cx="2921713" cy="665176"/>
            </a:xfrm>
            <a:prstGeom prst="bentConnector3">
              <a:avLst>
                <a:gd name="adj1" fmla="val 99889"/>
              </a:avLst>
            </a:prstGeom>
            <a:noFill/>
            <a:ln w="19050">
              <a:solidFill>
                <a:srgbClr val="7F7F7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1685" name="组合 196"/>
          <p:cNvGrpSpPr/>
          <p:nvPr/>
        </p:nvGrpSpPr>
        <p:grpSpPr bwMode="auto">
          <a:xfrm>
            <a:off x="8936038" y="1685925"/>
            <a:ext cx="1184275" cy="3563938"/>
            <a:chOff x="0" y="0"/>
            <a:chExt cx="888188" cy="3048886"/>
          </a:xfrm>
        </p:grpSpPr>
        <p:cxnSp>
          <p:nvCxnSpPr>
            <p:cNvPr id="71785" name="肘形连接符 197"/>
            <p:cNvCxnSpPr>
              <a:cxnSpLocks noChangeShapeType="1"/>
            </p:cNvCxnSpPr>
            <p:nvPr/>
          </p:nvCxnSpPr>
          <p:spPr bwMode="auto">
            <a:xfrm rot="5400000" flipH="1" flipV="1">
              <a:off x="-747761" y="1412908"/>
              <a:ext cx="3048886" cy="223013"/>
            </a:xfrm>
            <a:prstGeom prst="bentConnector3">
              <a:avLst>
                <a:gd name="adj1" fmla="val 100032"/>
              </a:avLst>
            </a:prstGeom>
            <a:noFill/>
            <a:ln w="19050">
              <a:solidFill>
                <a:srgbClr val="7F7F7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86" name="肘形连接符 198"/>
            <p:cNvCxnSpPr>
              <a:cxnSpLocks noChangeShapeType="1"/>
            </p:cNvCxnSpPr>
            <p:nvPr/>
          </p:nvCxnSpPr>
          <p:spPr bwMode="auto">
            <a:xfrm rot="16200000" flipH="1">
              <a:off x="-1128272" y="1255416"/>
              <a:ext cx="2921713" cy="665176"/>
            </a:xfrm>
            <a:prstGeom prst="bentConnector3">
              <a:avLst>
                <a:gd name="adj1" fmla="val 99889"/>
              </a:avLst>
            </a:prstGeom>
            <a:noFill/>
            <a:ln w="19050">
              <a:solidFill>
                <a:srgbClr val="7F7F7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1686" name="组合 163"/>
          <p:cNvGrpSpPr/>
          <p:nvPr/>
        </p:nvGrpSpPr>
        <p:grpSpPr bwMode="auto">
          <a:xfrm>
            <a:off x="3271838" y="1685925"/>
            <a:ext cx="1182687" cy="4033838"/>
            <a:chOff x="0" y="0"/>
            <a:chExt cx="888188" cy="3048886"/>
          </a:xfrm>
        </p:grpSpPr>
        <p:cxnSp>
          <p:nvCxnSpPr>
            <p:cNvPr id="71783" name="肘形连接符 164"/>
            <p:cNvCxnSpPr>
              <a:cxnSpLocks noChangeShapeType="1"/>
            </p:cNvCxnSpPr>
            <p:nvPr/>
          </p:nvCxnSpPr>
          <p:spPr bwMode="auto">
            <a:xfrm rot="5400000" flipH="1" flipV="1">
              <a:off x="-747761" y="1412908"/>
              <a:ext cx="3048886" cy="223013"/>
            </a:xfrm>
            <a:prstGeom prst="bentConnector3">
              <a:avLst>
                <a:gd name="adj1" fmla="val 100032"/>
              </a:avLst>
            </a:prstGeom>
            <a:noFill/>
            <a:ln w="19050">
              <a:solidFill>
                <a:srgbClr val="7F7F7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84" name="肘形连接符 165"/>
            <p:cNvCxnSpPr>
              <a:cxnSpLocks noChangeShapeType="1"/>
            </p:cNvCxnSpPr>
            <p:nvPr/>
          </p:nvCxnSpPr>
          <p:spPr bwMode="auto">
            <a:xfrm rot="16200000" flipH="1">
              <a:off x="-1128272" y="1255416"/>
              <a:ext cx="2921713" cy="665176"/>
            </a:xfrm>
            <a:prstGeom prst="bentConnector3">
              <a:avLst>
                <a:gd name="adj1" fmla="val 99889"/>
              </a:avLst>
            </a:prstGeom>
            <a:noFill/>
            <a:ln w="19050">
              <a:solidFill>
                <a:srgbClr val="7F7F7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1687" name="组合 184"/>
          <p:cNvGrpSpPr/>
          <p:nvPr/>
        </p:nvGrpSpPr>
        <p:grpSpPr bwMode="auto">
          <a:xfrm>
            <a:off x="1363663" y="1685925"/>
            <a:ext cx="1182687" cy="4064000"/>
            <a:chOff x="0" y="0"/>
            <a:chExt cx="888188" cy="3048886"/>
          </a:xfrm>
        </p:grpSpPr>
        <p:cxnSp>
          <p:nvCxnSpPr>
            <p:cNvPr id="71781" name="肘形连接符 185"/>
            <p:cNvCxnSpPr>
              <a:cxnSpLocks noChangeShapeType="1"/>
            </p:cNvCxnSpPr>
            <p:nvPr/>
          </p:nvCxnSpPr>
          <p:spPr bwMode="auto">
            <a:xfrm rot="5400000" flipH="1" flipV="1">
              <a:off x="-747761" y="1412908"/>
              <a:ext cx="3048886" cy="223013"/>
            </a:xfrm>
            <a:prstGeom prst="bentConnector3">
              <a:avLst>
                <a:gd name="adj1" fmla="val 100032"/>
              </a:avLst>
            </a:prstGeom>
            <a:noFill/>
            <a:ln w="19050">
              <a:solidFill>
                <a:srgbClr val="7F7F7F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782" name="肘形连接符 187"/>
            <p:cNvCxnSpPr>
              <a:cxnSpLocks noChangeShapeType="1"/>
            </p:cNvCxnSpPr>
            <p:nvPr/>
          </p:nvCxnSpPr>
          <p:spPr bwMode="auto">
            <a:xfrm rot="16200000" flipH="1">
              <a:off x="-1128272" y="1255416"/>
              <a:ext cx="2921713" cy="665176"/>
            </a:xfrm>
            <a:prstGeom prst="bentConnector3">
              <a:avLst>
                <a:gd name="adj1" fmla="val 99889"/>
              </a:avLst>
            </a:prstGeom>
            <a:noFill/>
            <a:ln w="19050">
              <a:solidFill>
                <a:srgbClr val="7F7F7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1688" name="Rectangle"/>
          <p:cNvSpPr>
            <a:spLocks noChangeArrowheads="1"/>
          </p:cNvSpPr>
          <p:nvPr/>
        </p:nvSpPr>
        <p:spPr bwMode="auto">
          <a:xfrm>
            <a:off x="635000" y="2057400"/>
            <a:ext cx="1468438" cy="341313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内部启动会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89" name="Rectangle"/>
          <p:cNvSpPr>
            <a:spLocks noChangeArrowheads="1"/>
          </p:cNvSpPr>
          <p:nvPr/>
        </p:nvSpPr>
        <p:spPr bwMode="auto">
          <a:xfrm>
            <a:off x="635000" y="2582863"/>
            <a:ext cx="1468438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组建项目团队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0" name="Rectangle"/>
          <p:cNvSpPr>
            <a:spLocks noChangeArrowheads="1"/>
          </p:cNvSpPr>
          <p:nvPr/>
        </p:nvSpPr>
        <p:spPr bwMode="auto">
          <a:xfrm>
            <a:off x="635000" y="3109913"/>
            <a:ext cx="1468438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客户硬件准备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1" name="Rectangle"/>
          <p:cNvSpPr>
            <a:spLocks noChangeArrowheads="1"/>
          </p:cNvSpPr>
          <p:nvPr/>
        </p:nvSpPr>
        <p:spPr bwMode="auto">
          <a:xfrm>
            <a:off x="635000" y="3630613"/>
            <a:ext cx="1468438" cy="33496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分析客户环境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2" name="Rectangle"/>
          <p:cNvSpPr>
            <a:spLocks noChangeArrowheads="1"/>
          </p:cNvSpPr>
          <p:nvPr/>
        </p:nvSpPr>
        <p:spPr bwMode="auto">
          <a:xfrm>
            <a:off x="633413" y="4678363"/>
            <a:ext cx="1462087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制定实施计划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3" name="Rectangle"/>
          <p:cNvSpPr>
            <a:spLocks noChangeArrowheads="1"/>
          </p:cNvSpPr>
          <p:nvPr/>
        </p:nvSpPr>
        <p:spPr bwMode="auto">
          <a:xfrm>
            <a:off x="635000" y="5211763"/>
            <a:ext cx="1468438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项目启动会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4" name="Rectangle"/>
          <p:cNvSpPr>
            <a:spLocks noChangeArrowheads="1"/>
          </p:cNvSpPr>
          <p:nvPr/>
        </p:nvSpPr>
        <p:spPr bwMode="auto">
          <a:xfrm>
            <a:off x="635000" y="4151313"/>
            <a:ext cx="1468438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确认功能范围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5" name="Rectangle"/>
          <p:cNvSpPr>
            <a:spLocks noChangeArrowheads="1"/>
          </p:cNvSpPr>
          <p:nvPr/>
        </p:nvSpPr>
        <p:spPr bwMode="auto">
          <a:xfrm>
            <a:off x="2528888" y="2049463"/>
            <a:ext cx="1471612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软件环境搭建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6" name="Rectangle"/>
          <p:cNvSpPr>
            <a:spLocks noChangeArrowheads="1"/>
          </p:cNvSpPr>
          <p:nvPr/>
        </p:nvSpPr>
        <p:spPr bwMode="auto">
          <a:xfrm>
            <a:off x="2528888" y="3635375"/>
            <a:ext cx="1471612" cy="338138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基础数据准备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7" name="Rectangle"/>
          <p:cNvSpPr>
            <a:spLocks noChangeArrowheads="1"/>
          </p:cNvSpPr>
          <p:nvPr/>
        </p:nvSpPr>
        <p:spPr bwMode="auto">
          <a:xfrm>
            <a:off x="2528888" y="5211763"/>
            <a:ext cx="1471612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需求评审与确认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8" name="Rectangle"/>
          <p:cNvSpPr>
            <a:spLocks noChangeArrowheads="1"/>
          </p:cNvSpPr>
          <p:nvPr/>
        </p:nvSpPr>
        <p:spPr bwMode="auto">
          <a:xfrm>
            <a:off x="2528888" y="3108325"/>
            <a:ext cx="1471612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基础数据培训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699" name="Rectangle"/>
          <p:cNvSpPr>
            <a:spLocks noChangeArrowheads="1"/>
          </p:cNvSpPr>
          <p:nvPr/>
        </p:nvSpPr>
        <p:spPr bwMode="auto">
          <a:xfrm>
            <a:off x="2528888" y="4157663"/>
            <a:ext cx="1471612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流程与功能调研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0" name="Rectangle"/>
          <p:cNvSpPr>
            <a:spLocks noChangeArrowheads="1"/>
          </p:cNvSpPr>
          <p:nvPr/>
        </p:nvSpPr>
        <p:spPr bwMode="auto">
          <a:xfrm>
            <a:off x="2528888" y="4686300"/>
            <a:ext cx="1471612" cy="33655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需求分析与设计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1" name="Rectangle"/>
          <p:cNvSpPr>
            <a:spLocks noChangeArrowheads="1"/>
          </p:cNvSpPr>
          <p:nvPr/>
        </p:nvSpPr>
        <p:spPr bwMode="auto">
          <a:xfrm>
            <a:off x="8218488" y="3625850"/>
            <a:ext cx="1470025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验收文档准备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2" name="Rectangle"/>
          <p:cNvSpPr>
            <a:spLocks noChangeArrowheads="1"/>
          </p:cNvSpPr>
          <p:nvPr/>
        </p:nvSpPr>
        <p:spPr bwMode="auto">
          <a:xfrm>
            <a:off x="8218488" y="4151313"/>
            <a:ext cx="1470025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正式验收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3" name="Rectangle"/>
          <p:cNvSpPr>
            <a:spLocks noChangeArrowheads="1"/>
          </p:cNvSpPr>
          <p:nvPr/>
        </p:nvSpPr>
        <p:spPr bwMode="auto">
          <a:xfrm>
            <a:off x="8218488" y="4678363"/>
            <a:ext cx="1470025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移交与总结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4" name="Rectangle"/>
          <p:cNvSpPr>
            <a:spLocks noChangeArrowheads="1"/>
          </p:cNvSpPr>
          <p:nvPr/>
        </p:nvSpPr>
        <p:spPr bwMode="auto">
          <a:xfrm>
            <a:off x="8234363" y="2574925"/>
            <a:ext cx="1471612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需求持续跟踪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5" name="Rectangle"/>
          <p:cNvSpPr>
            <a:spLocks noChangeArrowheads="1"/>
          </p:cNvSpPr>
          <p:nvPr/>
        </p:nvSpPr>
        <p:spPr bwMode="auto">
          <a:xfrm>
            <a:off x="8218488" y="3101975"/>
            <a:ext cx="1470025" cy="338138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报表优化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6" name="Rectangle"/>
          <p:cNvSpPr>
            <a:spLocks noChangeArrowheads="1"/>
          </p:cNvSpPr>
          <p:nvPr/>
        </p:nvSpPr>
        <p:spPr bwMode="auto">
          <a:xfrm>
            <a:off x="8218488" y="2049463"/>
            <a:ext cx="1470025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推广应用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7" name="Rectangle"/>
          <p:cNvSpPr>
            <a:spLocks noChangeArrowheads="1"/>
          </p:cNvSpPr>
          <p:nvPr/>
        </p:nvSpPr>
        <p:spPr bwMode="auto">
          <a:xfrm>
            <a:off x="10112375" y="3625850"/>
            <a:ext cx="1468438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定期回访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8" name="Rectangle"/>
          <p:cNvSpPr>
            <a:spLocks noChangeArrowheads="1"/>
          </p:cNvSpPr>
          <p:nvPr/>
        </p:nvSpPr>
        <p:spPr bwMode="auto">
          <a:xfrm>
            <a:off x="10112375" y="4151313"/>
            <a:ext cx="1468438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满意度调查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09" name="Rectangle"/>
          <p:cNvSpPr>
            <a:spLocks noChangeArrowheads="1"/>
          </p:cNvSpPr>
          <p:nvPr/>
        </p:nvSpPr>
        <p:spPr bwMode="auto">
          <a:xfrm>
            <a:off x="10125075" y="2049463"/>
            <a:ext cx="1468438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日常问题处理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0" name="Rectangle"/>
          <p:cNvSpPr>
            <a:spLocks noChangeArrowheads="1"/>
          </p:cNvSpPr>
          <p:nvPr/>
        </p:nvSpPr>
        <p:spPr bwMode="auto">
          <a:xfrm>
            <a:off x="10125075" y="2574925"/>
            <a:ext cx="1484313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需求受理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1" name="Rectangle"/>
          <p:cNvSpPr>
            <a:spLocks noChangeArrowheads="1"/>
          </p:cNvSpPr>
          <p:nvPr/>
        </p:nvSpPr>
        <p:spPr bwMode="auto">
          <a:xfrm>
            <a:off x="10107613" y="3101975"/>
            <a:ext cx="1473200" cy="338138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紧急事件处理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2" name="Rectangle"/>
          <p:cNvSpPr>
            <a:spLocks noChangeArrowheads="1"/>
          </p:cNvSpPr>
          <p:nvPr/>
        </p:nvSpPr>
        <p:spPr bwMode="auto">
          <a:xfrm>
            <a:off x="4435475" y="2049463"/>
            <a:ext cx="1471613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系统开发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3" name="Rectangle"/>
          <p:cNvSpPr>
            <a:spLocks noChangeArrowheads="1"/>
          </p:cNvSpPr>
          <p:nvPr/>
        </p:nvSpPr>
        <p:spPr bwMode="auto">
          <a:xfrm>
            <a:off x="4435475" y="2576513"/>
            <a:ext cx="1471613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接口开发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4" name="Rectangle"/>
          <p:cNvSpPr>
            <a:spLocks noChangeArrowheads="1"/>
          </p:cNvSpPr>
          <p:nvPr/>
        </p:nvSpPr>
        <p:spPr bwMode="auto">
          <a:xfrm>
            <a:off x="4435475" y="3101975"/>
            <a:ext cx="1471613" cy="338138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单据设计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5" name="Rectangle"/>
          <p:cNvSpPr>
            <a:spLocks noChangeArrowheads="1"/>
          </p:cNvSpPr>
          <p:nvPr/>
        </p:nvSpPr>
        <p:spPr bwMode="auto">
          <a:xfrm>
            <a:off x="4435475" y="4679950"/>
            <a:ext cx="1471613" cy="33655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系统内测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6" name="Rectangle"/>
          <p:cNvSpPr>
            <a:spLocks noChangeArrowheads="1"/>
          </p:cNvSpPr>
          <p:nvPr/>
        </p:nvSpPr>
        <p:spPr bwMode="auto">
          <a:xfrm>
            <a:off x="4435475" y="5203825"/>
            <a:ext cx="1471613" cy="338138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用户测试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7" name="Rectangle"/>
          <p:cNvSpPr>
            <a:spLocks noChangeArrowheads="1"/>
          </p:cNvSpPr>
          <p:nvPr/>
        </p:nvSpPr>
        <p:spPr bwMode="auto">
          <a:xfrm>
            <a:off x="4435475" y="4151313"/>
            <a:ext cx="1471613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基础数据验证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8" name="Rectangle"/>
          <p:cNvSpPr>
            <a:spLocks noChangeArrowheads="1"/>
          </p:cNvSpPr>
          <p:nvPr/>
        </p:nvSpPr>
        <p:spPr bwMode="auto">
          <a:xfrm>
            <a:off x="4435475" y="3625850"/>
            <a:ext cx="1471613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报表开发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19" name="Rectangle"/>
          <p:cNvSpPr>
            <a:spLocks noChangeArrowheads="1"/>
          </p:cNvSpPr>
          <p:nvPr/>
        </p:nvSpPr>
        <p:spPr bwMode="auto">
          <a:xfrm>
            <a:off x="6327775" y="2574925"/>
            <a:ext cx="1471613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模拟联调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0" name="Rectangle"/>
          <p:cNvSpPr>
            <a:spLocks noChangeArrowheads="1"/>
          </p:cNvSpPr>
          <p:nvPr/>
        </p:nvSpPr>
        <p:spPr bwMode="auto">
          <a:xfrm>
            <a:off x="6327775" y="3097213"/>
            <a:ext cx="1471613" cy="342900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制定上线方案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1" name="Rectangle"/>
          <p:cNvSpPr>
            <a:spLocks noChangeArrowheads="1"/>
          </p:cNvSpPr>
          <p:nvPr/>
        </p:nvSpPr>
        <p:spPr bwMode="auto">
          <a:xfrm>
            <a:off x="6327775" y="3625850"/>
            <a:ext cx="1471613" cy="339725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上线评审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2" name="Rectangle"/>
          <p:cNvSpPr>
            <a:spLocks noChangeArrowheads="1"/>
          </p:cNvSpPr>
          <p:nvPr/>
        </p:nvSpPr>
        <p:spPr bwMode="auto">
          <a:xfrm>
            <a:off x="6337300" y="4151313"/>
            <a:ext cx="1462088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上线部署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3" name="Rectangle"/>
          <p:cNvSpPr>
            <a:spLocks noChangeArrowheads="1"/>
          </p:cNvSpPr>
          <p:nvPr/>
        </p:nvSpPr>
        <p:spPr bwMode="auto">
          <a:xfrm>
            <a:off x="6327775" y="4678363"/>
            <a:ext cx="1471613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上线运行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4" name="Rectangle"/>
          <p:cNvSpPr>
            <a:spLocks noChangeArrowheads="1"/>
          </p:cNvSpPr>
          <p:nvPr/>
        </p:nvSpPr>
        <p:spPr bwMode="auto">
          <a:xfrm>
            <a:off x="6327775" y="2049463"/>
            <a:ext cx="1471613" cy="341312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用户培训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25" name="Rectangle"/>
          <p:cNvSpPr>
            <a:spLocks noChangeArrowheads="1"/>
          </p:cNvSpPr>
          <p:nvPr/>
        </p:nvSpPr>
        <p:spPr bwMode="auto">
          <a:xfrm>
            <a:off x="6327775" y="5200650"/>
            <a:ext cx="1471613" cy="341313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上线回顾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1726" name="组合 4"/>
          <p:cNvGrpSpPr/>
          <p:nvPr/>
        </p:nvGrpSpPr>
        <p:grpSpPr bwMode="auto">
          <a:xfrm>
            <a:off x="647700" y="2062163"/>
            <a:ext cx="323850" cy="3492500"/>
            <a:chOff x="0" y="0"/>
            <a:chExt cx="190658" cy="2619613"/>
          </a:xfrm>
        </p:grpSpPr>
        <p:sp>
          <p:nvSpPr>
            <p:cNvPr id="71774" name="Rectangle"/>
            <p:cNvSpPr>
              <a:spLocks noChangeArrowheads="1"/>
            </p:cNvSpPr>
            <p:nvPr/>
          </p:nvSpPr>
          <p:spPr bwMode="auto">
            <a:xfrm>
              <a:off x="1591" y="0"/>
              <a:ext cx="189067" cy="254340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1.1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5" name="Rectangle"/>
            <p:cNvSpPr>
              <a:spLocks noChangeArrowheads="1"/>
            </p:cNvSpPr>
            <p:nvPr/>
          </p:nvSpPr>
          <p:spPr bwMode="auto">
            <a:xfrm>
              <a:off x="1591" y="788424"/>
              <a:ext cx="189067" cy="254339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1.3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6" name="Rectangle"/>
            <p:cNvSpPr>
              <a:spLocks noChangeArrowheads="1"/>
            </p:cNvSpPr>
            <p:nvPr/>
          </p:nvSpPr>
          <p:spPr bwMode="auto">
            <a:xfrm>
              <a:off x="1591" y="394211"/>
              <a:ext cx="189067" cy="254343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1.2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7" name="Rectangle"/>
            <p:cNvSpPr>
              <a:spLocks noChangeArrowheads="1"/>
            </p:cNvSpPr>
            <p:nvPr/>
          </p:nvSpPr>
          <p:spPr bwMode="auto">
            <a:xfrm>
              <a:off x="1591" y="1182636"/>
              <a:ext cx="189067" cy="254340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1.4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8" name="Rectangle"/>
            <p:cNvSpPr>
              <a:spLocks noChangeArrowheads="1"/>
            </p:cNvSpPr>
            <p:nvPr/>
          </p:nvSpPr>
          <p:spPr bwMode="auto">
            <a:xfrm>
              <a:off x="1591" y="1576848"/>
              <a:ext cx="189067" cy="254340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1.5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9" name="Rectangle"/>
            <p:cNvSpPr>
              <a:spLocks noChangeArrowheads="1"/>
            </p:cNvSpPr>
            <p:nvPr/>
          </p:nvSpPr>
          <p:spPr bwMode="auto">
            <a:xfrm>
              <a:off x="0" y="1971059"/>
              <a:ext cx="189067" cy="254344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1.6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80" name="Rectangle"/>
            <p:cNvSpPr>
              <a:spLocks noChangeArrowheads="1"/>
            </p:cNvSpPr>
            <p:nvPr/>
          </p:nvSpPr>
          <p:spPr bwMode="auto">
            <a:xfrm>
              <a:off x="1591" y="2365270"/>
              <a:ext cx="189067" cy="254343"/>
            </a:xfrm>
            <a:prstGeom prst="roundRect">
              <a:avLst>
                <a:gd name="adj" fmla="val 16667"/>
              </a:avLst>
            </a:prstGeom>
            <a:solidFill>
              <a:srgbClr val="6794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1.7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1727" name="组合 8"/>
          <p:cNvGrpSpPr/>
          <p:nvPr/>
        </p:nvGrpSpPr>
        <p:grpSpPr bwMode="auto">
          <a:xfrm>
            <a:off x="8215313" y="2051050"/>
            <a:ext cx="296862" cy="2968625"/>
            <a:chOff x="0" y="0"/>
            <a:chExt cx="191063" cy="2225400"/>
          </a:xfrm>
        </p:grpSpPr>
        <p:sp>
          <p:nvSpPr>
            <p:cNvPr id="71768" name="Rectangle"/>
            <p:cNvSpPr>
              <a:spLocks noChangeArrowheads="1"/>
            </p:cNvSpPr>
            <p:nvPr/>
          </p:nvSpPr>
          <p:spPr bwMode="auto">
            <a:xfrm>
              <a:off x="31" y="0"/>
              <a:ext cx="191032" cy="254340"/>
            </a:xfrm>
            <a:prstGeom prst="roundRect">
              <a:avLst>
                <a:gd name="adj" fmla="val 16667"/>
              </a:avLst>
            </a:prstGeom>
            <a:solidFill>
              <a:srgbClr val="2E7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5.1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69" name="Rectangle"/>
            <p:cNvSpPr>
              <a:spLocks noChangeArrowheads="1"/>
            </p:cNvSpPr>
            <p:nvPr/>
          </p:nvSpPr>
          <p:spPr bwMode="auto">
            <a:xfrm>
              <a:off x="23" y="394212"/>
              <a:ext cx="191032" cy="254343"/>
            </a:xfrm>
            <a:prstGeom prst="roundRect">
              <a:avLst>
                <a:gd name="adj" fmla="val 16667"/>
              </a:avLst>
            </a:prstGeom>
            <a:solidFill>
              <a:srgbClr val="2E7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5.2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0" name="Rectangle"/>
            <p:cNvSpPr>
              <a:spLocks noChangeArrowheads="1"/>
            </p:cNvSpPr>
            <p:nvPr/>
          </p:nvSpPr>
          <p:spPr bwMode="auto">
            <a:xfrm>
              <a:off x="31" y="788421"/>
              <a:ext cx="191032" cy="254342"/>
            </a:xfrm>
            <a:prstGeom prst="roundRect">
              <a:avLst>
                <a:gd name="adj" fmla="val 16667"/>
              </a:avLst>
            </a:prstGeom>
            <a:solidFill>
              <a:srgbClr val="2E7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5.3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1" name="Rectangle"/>
            <p:cNvSpPr>
              <a:spLocks noChangeArrowheads="1"/>
            </p:cNvSpPr>
            <p:nvPr/>
          </p:nvSpPr>
          <p:spPr bwMode="auto">
            <a:xfrm>
              <a:off x="23" y="1182636"/>
              <a:ext cx="191032" cy="254340"/>
            </a:xfrm>
            <a:prstGeom prst="roundRect">
              <a:avLst>
                <a:gd name="adj" fmla="val 16667"/>
              </a:avLst>
            </a:prstGeom>
            <a:solidFill>
              <a:srgbClr val="2E7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5.4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2" name="Rectangle"/>
            <p:cNvSpPr>
              <a:spLocks noChangeArrowheads="1"/>
            </p:cNvSpPr>
            <p:nvPr/>
          </p:nvSpPr>
          <p:spPr bwMode="auto">
            <a:xfrm>
              <a:off x="23" y="1576847"/>
              <a:ext cx="191033" cy="254343"/>
            </a:xfrm>
            <a:prstGeom prst="roundRect">
              <a:avLst>
                <a:gd name="adj" fmla="val 16667"/>
              </a:avLst>
            </a:prstGeom>
            <a:solidFill>
              <a:srgbClr val="2E7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5.5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73" name="Rectangle"/>
            <p:cNvSpPr>
              <a:spLocks noChangeArrowheads="1"/>
            </p:cNvSpPr>
            <p:nvPr/>
          </p:nvSpPr>
          <p:spPr bwMode="auto">
            <a:xfrm>
              <a:off x="0" y="1971061"/>
              <a:ext cx="187784" cy="254339"/>
            </a:xfrm>
            <a:prstGeom prst="roundRect">
              <a:avLst>
                <a:gd name="adj" fmla="val 16667"/>
              </a:avLst>
            </a:prstGeom>
            <a:solidFill>
              <a:srgbClr val="2E75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5.6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1728" name="组合 9"/>
          <p:cNvGrpSpPr/>
          <p:nvPr/>
        </p:nvGrpSpPr>
        <p:grpSpPr bwMode="auto">
          <a:xfrm>
            <a:off x="10180638" y="1946275"/>
            <a:ext cx="255587" cy="2457450"/>
            <a:chOff x="0" y="-10790"/>
            <a:chExt cx="190955" cy="1841979"/>
          </a:xfrm>
        </p:grpSpPr>
        <p:sp>
          <p:nvSpPr>
            <p:cNvPr id="121" name="Rectangle"/>
            <p:cNvSpPr/>
            <p:nvPr/>
          </p:nvSpPr>
          <p:spPr>
            <a:xfrm>
              <a:off x="1186" y="-10790"/>
              <a:ext cx="189769" cy="253451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9525">
              <a:noFill/>
            </a:ln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 noProof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6.1</a:t>
              </a:r>
              <a:endParaRPr lang="zh-CN" altLang="en-US" sz="800" b="1" noProof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2" name="Rectangle"/>
            <p:cNvSpPr/>
            <p:nvPr/>
          </p:nvSpPr>
          <p:spPr>
            <a:xfrm>
              <a:off x="1186" y="383070"/>
              <a:ext cx="189769" cy="254641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9525">
              <a:noFill/>
            </a:ln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 noProof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6.2</a:t>
              </a:r>
              <a:endParaRPr lang="zh-CN" altLang="en-US" sz="800" b="1" noProof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3" name="Rectangle"/>
            <p:cNvSpPr/>
            <p:nvPr/>
          </p:nvSpPr>
          <p:spPr>
            <a:xfrm>
              <a:off x="0" y="778120"/>
              <a:ext cx="189769" cy="25345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9525">
              <a:noFill/>
            </a:ln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 noProof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6.3</a:t>
              </a:r>
              <a:endParaRPr lang="zh-CN" altLang="en-US" sz="800" b="1" noProof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4" name="Rectangle"/>
            <p:cNvSpPr/>
            <p:nvPr/>
          </p:nvSpPr>
          <p:spPr>
            <a:xfrm>
              <a:off x="1186" y="1182689"/>
              <a:ext cx="189769" cy="254641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9525">
              <a:noFill/>
            </a:ln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 noProof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6.4</a:t>
              </a:r>
              <a:endParaRPr lang="zh-CN" altLang="en-US" sz="800" b="1" noProof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5" name="Rectangle"/>
            <p:cNvSpPr/>
            <p:nvPr/>
          </p:nvSpPr>
          <p:spPr>
            <a:xfrm>
              <a:off x="1186" y="1577739"/>
              <a:ext cx="189769" cy="25345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9525">
              <a:noFill/>
            </a:ln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 noProof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6.5</a:t>
              </a:r>
              <a:endParaRPr lang="zh-CN" altLang="en-US" sz="800" b="1" noProof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1729" name="组合 6"/>
          <p:cNvGrpSpPr/>
          <p:nvPr/>
        </p:nvGrpSpPr>
        <p:grpSpPr bwMode="auto">
          <a:xfrm>
            <a:off x="4433888" y="2049463"/>
            <a:ext cx="268287" cy="3492500"/>
            <a:chOff x="0" y="0"/>
            <a:chExt cx="200391" cy="2619614"/>
          </a:xfrm>
        </p:grpSpPr>
        <p:sp>
          <p:nvSpPr>
            <p:cNvPr id="71756" name="Rectangle"/>
            <p:cNvSpPr>
              <a:spLocks noChangeArrowheads="1"/>
            </p:cNvSpPr>
            <p:nvPr/>
          </p:nvSpPr>
          <p:spPr bwMode="auto">
            <a:xfrm>
              <a:off x="0" y="0"/>
              <a:ext cx="200384" cy="254343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3.1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7" name="Rectangle"/>
            <p:cNvSpPr>
              <a:spLocks noChangeArrowheads="1"/>
            </p:cNvSpPr>
            <p:nvPr/>
          </p:nvSpPr>
          <p:spPr bwMode="auto">
            <a:xfrm>
              <a:off x="0" y="394210"/>
              <a:ext cx="200384" cy="254345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3.2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8" name="Rectangle"/>
            <p:cNvSpPr>
              <a:spLocks noChangeArrowheads="1"/>
            </p:cNvSpPr>
            <p:nvPr/>
          </p:nvSpPr>
          <p:spPr bwMode="auto">
            <a:xfrm>
              <a:off x="0" y="788704"/>
              <a:ext cx="200384" cy="254060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3.3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9" name="Rectangle"/>
            <p:cNvSpPr>
              <a:spLocks noChangeArrowheads="1"/>
            </p:cNvSpPr>
            <p:nvPr/>
          </p:nvSpPr>
          <p:spPr bwMode="auto">
            <a:xfrm>
              <a:off x="8" y="1576847"/>
              <a:ext cx="189061" cy="254344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3.5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60" name="Rectangle"/>
            <p:cNvSpPr>
              <a:spLocks noChangeArrowheads="1"/>
            </p:cNvSpPr>
            <p:nvPr/>
          </p:nvSpPr>
          <p:spPr bwMode="auto">
            <a:xfrm>
              <a:off x="7" y="1971059"/>
              <a:ext cx="200384" cy="254342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3.6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61" name="Rectangle"/>
            <p:cNvSpPr>
              <a:spLocks noChangeArrowheads="1"/>
            </p:cNvSpPr>
            <p:nvPr/>
          </p:nvSpPr>
          <p:spPr bwMode="auto">
            <a:xfrm>
              <a:off x="0" y="2365273"/>
              <a:ext cx="189062" cy="254341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3.7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62" name="Rectangle"/>
            <p:cNvSpPr>
              <a:spLocks noChangeArrowheads="1"/>
            </p:cNvSpPr>
            <p:nvPr/>
          </p:nvSpPr>
          <p:spPr bwMode="auto">
            <a:xfrm>
              <a:off x="0" y="1182635"/>
              <a:ext cx="189069" cy="254342"/>
            </a:xfrm>
            <a:prstGeom prst="roundRect">
              <a:avLst>
                <a:gd name="adj" fmla="val 16667"/>
              </a:avLst>
            </a:prstGeom>
            <a:solidFill>
              <a:srgbClr val="00D7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3.4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1730" name="组合 7"/>
          <p:cNvGrpSpPr/>
          <p:nvPr/>
        </p:nvGrpSpPr>
        <p:grpSpPr bwMode="auto">
          <a:xfrm>
            <a:off x="6327775" y="2051050"/>
            <a:ext cx="333375" cy="3492500"/>
            <a:chOff x="0" y="0"/>
            <a:chExt cx="206828" cy="2619614"/>
          </a:xfrm>
        </p:grpSpPr>
        <p:sp>
          <p:nvSpPr>
            <p:cNvPr id="71749" name="Rectangle"/>
            <p:cNvSpPr>
              <a:spLocks noChangeArrowheads="1"/>
            </p:cNvSpPr>
            <p:nvPr/>
          </p:nvSpPr>
          <p:spPr bwMode="auto">
            <a:xfrm>
              <a:off x="8" y="394212"/>
              <a:ext cx="189069" cy="254344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4.2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0" name="Rectangle"/>
            <p:cNvSpPr>
              <a:spLocks noChangeArrowheads="1"/>
            </p:cNvSpPr>
            <p:nvPr/>
          </p:nvSpPr>
          <p:spPr bwMode="auto">
            <a:xfrm>
              <a:off x="8" y="785158"/>
              <a:ext cx="189068" cy="257609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4.3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1" name="Rectangle"/>
            <p:cNvSpPr>
              <a:spLocks noChangeArrowheads="1"/>
            </p:cNvSpPr>
            <p:nvPr/>
          </p:nvSpPr>
          <p:spPr bwMode="auto">
            <a:xfrm>
              <a:off x="8" y="1182635"/>
              <a:ext cx="189068" cy="254345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4.4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2" name="Rectangle"/>
            <p:cNvSpPr>
              <a:spLocks noChangeArrowheads="1"/>
            </p:cNvSpPr>
            <p:nvPr/>
          </p:nvSpPr>
          <p:spPr bwMode="auto">
            <a:xfrm>
              <a:off x="6444" y="1576848"/>
              <a:ext cx="200384" cy="254343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4.5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3" name="Rectangle"/>
            <p:cNvSpPr>
              <a:spLocks noChangeArrowheads="1"/>
            </p:cNvSpPr>
            <p:nvPr/>
          </p:nvSpPr>
          <p:spPr bwMode="auto">
            <a:xfrm>
              <a:off x="8" y="1971061"/>
              <a:ext cx="189068" cy="254340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4.6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4" name="Rectangle"/>
            <p:cNvSpPr>
              <a:spLocks noChangeArrowheads="1"/>
            </p:cNvSpPr>
            <p:nvPr/>
          </p:nvSpPr>
          <p:spPr bwMode="auto">
            <a:xfrm>
              <a:off x="0" y="2365273"/>
              <a:ext cx="189069" cy="254341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4.7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755" name="Rectangle"/>
            <p:cNvSpPr>
              <a:spLocks noChangeArrowheads="1"/>
            </p:cNvSpPr>
            <p:nvPr/>
          </p:nvSpPr>
          <p:spPr bwMode="auto">
            <a:xfrm>
              <a:off x="8" y="0"/>
              <a:ext cx="200384" cy="254343"/>
            </a:xfrm>
            <a:prstGeom prst="roundRect">
              <a:avLst>
                <a:gd name="adj" fmla="val 16667"/>
              </a:avLst>
            </a:prstGeom>
            <a:solidFill>
              <a:srgbClr val="FFB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.1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71731" name="Rectangle"/>
          <p:cNvSpPr>
            <a:spLocks noChangeArrowheads="1"/>
          </p:cNvSpPr>
          <p:nvPr/>
        </p:nvSpPr>
        <p:spPr bwMode="auto">
          <a:xfrm>
            <a:off x="6327775" y="1509713"/>
            <a:ext cx="1471613" cy="344487"/>
          </a:xfrm>
          <a:prstGeom prst="roundRect">
            <a:avLst>
              <a:gd name="adj" fmla="val 16667"/>
            </a:avLst>
          </a:prstGeom>
          <a:solidFill>
            <a:srgbClr val="FFB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4、部署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32" name="Rectangle"/>
          <p:cNvSpPr>
            <a:spLocks noChangeArrowheads="1"/>
          </p:cNvSpPr>
          <p:nvPr/>
        </p:nvSpPr>
        <p:spPr bwMode="auto">
          <a:xfrm>
            <a:off x="2528888" y="1516063"/>
            <a:ext cx="1471612" cy="338137"/>
          </a:xfrm>
          <a:prstGeom prst="roundRect">
            <a:avLst>
              <a:gd name="adj" fmla="val 16667"/>
            </a:avLst>
          </a:prstGeom>
          <a:solidFill>
            <a:srgbClr val="00A8D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2、分析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33" name="Rectangle"/>
          <p:cNvSpPr>
            <a:spLocks noChangeArrowheads="1"/>
          </p:cNvSpPr>
          <p:nvPr/>
        </p:nvSpPr>
        <p:spPr bwMode="auto">
          <a:xfrm>
            <a:off x="4435475" y="1516063"/>
            <a:ext cx="1471613" cy="338137"/>
          </a:xfrm>
          <a:prstGeom prst="roundRect">
            <a:avLst>
              <a:gd name="adj" fmla="val 16667"/>
            </a:avLst>
          </a:prstGeom>
          <a:solidFill>
            <a:srgbClr val="00D75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3、构建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34" name="Rectangle"/>
          <p:cNvSpPr>
            <a:spLocks noChangeArrowheads="1"/>
          </p:cNvSpPr>
          <p:nvPr/>
        </p:nvSpPr>
        <p:spPr bwMode="auto">
          <a:xfrm>
            <a:off x="8218488" y="1516063"/>
            <a:ext cx="1470025" cy="338137"/>
          </a:xfrm>
          <a:prstGeom prst="roundRect">
            <a:avLst>
              <a:gd name="adj" fmla="val 16667"/>
            </a:avLst>
          </a:prstGeom>
          <a:solidFill>
            <a:srgbClr val="2E75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5、验收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6" name="Rectangle"/>
          <p:cNvSpPr/>
          <p:nvPr/>
        </p:nvSpPr>
        <p:spPr>
          <a:xfrm>
            <a:off x="10120313" y="1516063"/>
            <a:ext cx="1471612" cy="338137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  <a:ln w="9525">
            <a:noFill/>
          </a:ln>
        </p:spPr>
        <p:txBody>
          <a:bodyPr lIns="37328" tIns="23997" rIns="37328" bIns="23997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1600" noProof="1">
                <a:solidFill>
                  <a:schemeClr val="bg1"/>
                </a:solidFill>
                <a:latin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6、运维</a:t>
            </a:r>
            <a:endParaRPr lang="zh-CN" altLang="en-US" sz="1600" noProof="1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36" name="Rectangle"/>
          <p:cNvSpPr>
            <a:spLocks noChangeArrowheads="1"/>
          </p:cNvSpPr>
          <p:nvPr/>
        </p:nvSpPr>
        <p:spPr bwMode="auto">
          <a:xfrm>
            <a:off x="635000" y="1516063"/>
            <a:ext cx="1468438" cy="338137"/>
          </a:xfrm>
          <a:prstGeom prst="roundRect">
            <a:avLst>
              <a:gd name="adj" fmla="val 16667"/>
            </a:avLst>
          </a:prstGeom>
          <a:solidFill>
            <a:srgbClr val="6794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1、启动</a:t>
            </a:r>
            <a:endParaRPr lang="zh-CN" altLang="en-US" sz="1600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737" name="Rectangle"/>
          <p:cNvSpPr>
            <a:spLocks noChangeArrowheads="1"/>
          </p:cNvSpPr>
          <p:nvPr/>
        </p:nvSpPr>
        <p:spPr bwMode="auto">
          <a:xfrm>
            <a:off x="2528888" y="2582863"/>
            <a:ext cx="1471612" cy="338137"/>
          </a:xfrm>
          <a:prstGeom prst="roundRect">
            <a:avLst>
              <a:gd name="adj" fmla="val 16667"/>
            </a:avLst>
          </a:prstGeom>
          <a:solidFill>
            <a:srgbClr val="DEEBF7"/>
          </a:solidFill>
          <a:ln w="6350">
            <a:solidFill>
              <a:schemeClr val="bg2"/>
            </a:solidFill>
            <a:round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1200">
                <a:latin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zh-CN" altLang="en-US" sz="1200">
                <a:latin typeface="微软雅黑" panose="020B0503020204020204" pitchFamily="34" charset="-122"/>
                <a:sym typeface="微软雅黑" panose="020B0503020204020204" pitchFamily="34" charset="-122"/>
              </a:rPr>
              <a:t>分析演示</a:t>
            </a:r>
            <a:endParaRPr lang="zh-CN" altLang="en-US" sz="1200"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1738" name="组合 20"/>
          <p:cNvGrpSpPr/>
          <p:nvPr/>
        </p:nvGrpSpPr>
        <p:grpSpPr bwMode="auto">
          <a:xfrm>
            <a:off x="2532063" y="2051050"/>
            <a:ext cx="303212" cy="3492500"/>
            <a:chOff x="0" y="0"/>
            <a:chExt cx="190658" cy="2619613"/>
          </a:xfrm>
        </p:grpSpPr>
        <p:sp>
          <p:nvSpPr>
            <p:cNvPr id="71742" name="Rectangle"/>
            <p:cNvSpPr>
              <a:spLocks noChangeArrowheads="1"/>
            </p:cNvSpPr>
            <p:nvPr/>
          </p:nvSpPr>
          <p:spPr bwMode="auto">
            <a:xfrm>
              <a:off x="1591" y="0"/>
              <a:ext cx="189067" cy="254340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.1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743" name="Rectangle"/>
            <p:cNvSpPr>
              <a:spLocks noChangeArrowheads="1"/>
            </p:cNvSpPr>
            <p:nvPr/>
          </p:nvSpPr>
          <p:spPr bwMode="auto">
            <a:xfrm>
              <a:off x="1591" y="788424"/>
              <a:ext cx="189067" cy="254339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.3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744" name="Rectangle"/>
            <p:cNvSpPr>
              <a:spLocks noChangeArrowheads="1"/>
            </p:cNvSpPr>
            <p:nvPr/>
          </p:nvSpPr>
          <p:spPr bwMode="auto">
            <a:xfrm>
              <a:off x="1591" y="394211"/>
              <a:ext cx="189067" cy="254343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.2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745" name="Rectangle"/>
            <p:cNvSpPr>
              <a:spLocks noChangeArrowheads="1"/>
            </p:cNvSpPr>
            <p:nvPr/>
          </p:nvSpPr>
          <p:spPr bwMode="auto">
            <a:xfrm>
              <a:off x="2676" y="1182477"/>
              <a:ext cx="175248" cy="254023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.4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746" name="Rectangle"/>
            <p:cNvSpPr>
              <a:spLocks noChangeArrowheads="1"/>
            </p:cNvSpPr>
            <p:nvPr/>
          </p:nvSpPr>
          <p:spPr bwMode="auto">
            <a:xfrm>
              <a:off x="1591" y="1576848"/>
              <a:ext cx="189067" cy="254340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.5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747" name="Rectangle"/>
            <p:cNvSpPr>
              <a:spLocks noChangeArrowheads="1"/>
            </p:cNvSpPr>
            <p:nvPr/>
          </p:nvSpPr>
          <p:spPr bwMode="auto">
            <a:xfrm>
              <a:off x="0" y="1971059"/>
              <a:ext cx="189067" cy="254344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.6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1748" name="Rectangle"/>
            <p:cNvSpPr>
              <a:spLocks noChangeArrowheads="1"/>
            </p:cNvSpPr>
            <p:nvPr/>
          </p:nvSpPr>
          <p:spPr bwMode="auto">
            <a:xfrm>
              <a:off x="1591" y="2365270"/>
              <a:ext cx="189067" cy="254343"/>
            </a:xfrm>
            <a:prstGeom prst="roundRect">
              <a:avLst>
                <a:gd name="adj" fmla="val 16667"/>
              </a:avLst>
            </a:prstGeom>
            <a:solidFill>
              <a:srgbClr val="00A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37328" tIns="23997" rIns="37328" bIns="23997"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pitchFamily="34" charset="-122"/>
                  <a:sym typeface="微软雅黑" panose="020B0503020204020204" pitchFamily="34" charset="-122"/>
                </a:rPr>
                <a:t>.7</a:t>
              </a:r>
              <a:endParaRPr lang="zh-CN" altLang="en-US" sz="3200" b="1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58" name="Rectangle"/>
          <p:cNvSpPr>
            <a:spLocks noChangeArrowheads="1"/>
          </p:cNvSpPr>
          <p:nvPr/>
        </p:nvSpPr>
        <p:spPr bwMode="auto">
          <a:xfrm>
            <a:off x="960438" y="6030913"/>
            <a:ext cx="4775200" cy="566737"/>
          </a:xfrm>
          <a:prstGeom prst="roundRect">
            <a:avLst>
              <a:gd name="adj" fmla="val 16667"/>
            </a:avLst>
          </a:prstGeom>
          <a:solidFill>
            <a:srgbClr val="FFB400"/>
          </a:solidFill>
          <a:ln>
            <a:noFill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65" noProof="1">
                <a:solidFill>
                  <a:schemeClr val="bg1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产品转化文档</a:t>
            </a:r>
            <a:endParaRPr lang="zh-CN" altLang="en-US" sz="2665" noProof="1">
              <a:solidFill>
                <a:schemeClr val="bg1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9" name="Rectangle"/>
          <p:cNvSpPr>
            <a:spLocks noChangeArrowheads="1"/>
          </p:cNvSpPr>
          <p:nvPr/>
        </p:nvSpPr>
        <p:spPr bwMode="auto">
          <a:xfrm>
            <a:off x="6269038" y="6030913"/>
            <a:ext cx="4800600" cy="566737"/>
          </a:xfrm>
          <a:prstGeom prst="roundRect">
            <a:avLst>
              <a:gd name="adj" fmla="val 16667"/>
            </a:avLst>
          </a:prstGeom>
          <a:solidFill>
            <a:srgbClr val="9DC3E6"/>
          </a:solidFill>
          <a:ln>
            <a:noFill/>
          </a:ln>
        </p:spPr>
        <p:txBody>
          <a:bodyPr lIns="37328" tIns="23997" rIns="37328" bIns="23997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665" noProof="1">
                <a:solidFill>
                  <a:srgbClr val="2E75B6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  <a:t>项目阶段交付物</a:t>
            </a:r>
            <a:endParaRPr lang="zh-CN" altLang="en-US" sz="2665" noProof="1">
              <a:solidFill>
                <a:srgbClr val="2E75B6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7" name="TextBox 109"/>
          <p:cNvSpPr txBox="1">
            <a:spLocks noChangeArrowheads="1"/>
          </p:cNvSpPr>
          <p:nvPr/>
        </p:nvSpPr>
        <p:spPr bwMode="auto">
          <a:xfrm>
            <a:off x="1546225" y="947738"/>
            <a:ext cx="521017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标准化的</a:t>
            </a:r>
            <a:r>
              <a:rPr lang="en-US" altLang="zh-CN" b="1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阶段，</a:t>
            </a:r>
            <a:r>
              <a:rPr lang="en-US" altLang="zh-CN" b="1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b="1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个步骤，</a:t>
            </a:r>
            <a:r>
              <a:rPr lang="zh-CN" altLang="en-US" b="1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多份过程文档</a:t>
            </a:r>
            <a:endParaRPr lang="zh-CN" altLang="en-US" b="1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ahoma" panose="020B0604030504040204" pitchFamily="34" charset="0"/>
                <a:ea typeface="微软雅黑" panose="020B0503020204020204" pitchFamily="34" charset="-122"/>
              </a:rPr>
              <a:t>项目沟通机制  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59"/>
          <p:cNvSpPr/>
          <p:nvPr/>
        </p:nvSpPr>
        <p:spPr>
          <a:xfrm>
            <a:off x="2549525" y="1635125"/>
            <a:ext cx="3151188" cy="83185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162539" tIns="81270" rIns="162539" bIns="81270" anchor="ctr"/>
          <a:lstStyle/>
          <a:p>
            <a:pPr algn="ctr" eaLnBrk="1" hangingPunct="1">
              <a:lnSpc>
                <a:spcPts val="3415"/>
              </a:lnSpc>
              <a:buFont typeface="Arial" panose="020B0604020202020204" pitchFamily="34" charset="0"/>
              <a:buNone/>
              <a:defRPr/>
            </a:pPr>
            <a:r>
              <a:rPr lang="zh-CN" altLang="en-US" sz="2000" b="1" kern="0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项目委员会</a:t>
            </a:r>
            <a:endParaRPr lang="zh-CN" altLang="en-US" sz="2000" b="1" kern="0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ctr" eaLnBrk="1" hangingPunct="1">
              <a:lnSpc>
                <a:spcPts val="3415"/>
              </a:lnSpc>
              <a:buFont typeface="Arial" panose="020B0604020202020204" pitchFamily="34" charset="0"/>
              <a:buNone/>
              <a:defRPr/>
            </a:pPr>
            <a:r>
              <a:rPr lang="en-US" altLang="zh-CN" sz="1335" b="1" kern="0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  </a:t>
            </a:r>
            <a:r>
              <a:rPr lang="zh-CN" altLang="en-US" sz="1335" b="1" kern="0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市一医院     坤发</a:t>
            </a:r>
            <a:r>
              <a:rPr lang="zh-CN" altLang="en-US" sz="1335" b="1" kern="0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科技</a:t>
            </a:r>
            <a:endParaRPr lang="zh-CN" altLang="en-US" sz="1335" b="1" kern="0" noProof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" name="Rectangle 60"/>
          <p:cNvSpPr/>
          <p:nvPr/>
        </p:nvSpPr>
        <p:spPr>
          <a:xfrm>
            <a:off x="1735138" y="3098800"/>
            <a:ext cx="4743450" cy="117475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000" b="1" kern="0" noProof="1">
                <a:solidFill>
                  <a:srgbClr val="FFFF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项目管理办公室</a:t>
            </a:r>
            <a:endParaRPr lang="zh-CN" altLang="en-US" sz="2000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935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800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665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535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535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sz="1335" b="1" kern="0" noProof="1">
              <a:solidFill>
                <a:srgbClr val="FFFF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Rounded Rectangle 64"/>
          <p:cNvSpPr/>
          <p:nvPr/>
        </p:nvSpPr>
        <p:spPr>
          <a:xfrm>
            <a:off x="5829300" y="1201738"/>
            <a:ext cx="3719513" cy="1397000"/>
          </a:xfrm>
          <a:prstGeom prst="round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62539" tIns="81270" rIns="162539" bIns="81270" anchor="ctr"/>
          <a:lstStyle/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</a:pPr>
            <a:r>
              <a:rPr lang="zh-CN" altLang="en-US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总体项目的规划</a:t>
            </a:r>
            <a:endParaRPr lang="zh-CN" altLang="en-US" sz="130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</a:pPr>
            <a:r>
              <a:rPr lang="zh-CN" altLang="en-US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项目决策</a:t>
            </a:r>
            <a:endParaRPr lang="zh-CN" altLang="en-US" sz="130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</a:pPr>
            <a:r>
              <a:rPr lang="zh-CN" altLang="en-US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项目验收</a:t>
            </a:r>
            <a:endParaRPr lang="zh-CN" altLang="en-US" sz="130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</a:pPr>
            <a:endParaRPr lang="zh-CN" altLang="en-US" sz="1200" noProof="1">
              <a:latin typeface="宋体" panose="02010600030101010101" pitchFamily="2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9" name="Rounded Rectangle 65"/>
          <p:cNvSpPr/>
          <p:nvPr/>
        </p:nvSpPr>
        <p:spPr>
          <a:xfrm>
            <a:off x="6269355" y="2943225"/>
            <a:ext cx="2406650" cy="1466850"/>
          </a:xfrm>
          <a:prstGeom prst="round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162539" tIns="81270" rIns="162539" bIns="81270" anchor="ctr"/>
          <a:lstStyle/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  <a:defRPr/>
            </a:pPr>
            <a:r>
              <a:rPr lang="en-US" altLang="zh-CN" sz="134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sz="134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项目实施管理</a:t>
            </a:r>
            <a:endParaRPr lang="zh-CN" altLang="en-US" sz="134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  <a:defRPr/>
            </a:pPr>
            <a:r>
              <a:rPr lang="zh-CN" altLang="en-US" sz="134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项目进度跟踪</a:t>
            </a:r>
            <a:endParaRPr lang="zh-CN" altLang="en-US" sz="134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  <a:defRPr/>
            </a:pPr>
            <a:r>
              <a:rPr lang="zh-CN" altLang="en-US" sz="134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项目风险管理</a:t>
            </a:r>
            <a:endParaRPr lang="zh-CN" altLang="en-US" sz="134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  <a:defRPr/>
            </a:pPr>
            <a:r>
              <a:rPr lang="zh-CN" altLang="en-US" sz="134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资源协调</a:t>
            </a:r>
            <a:endParaRPr lang="zh-CN" altLang="en-US" sz="134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  <a:defRPr/>
            </a:pPr>
            <a:r>
              <a:rPr lang="zh-CN" altLang="en-US" sz="134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院方业务专家：内部培训、业务指导</a:t>
            </a:r>
            <a:endParaRPr lang="zh-CN" altLang="en-US" sz="134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eaLnBrk="1" hangingPunct="1">
              <a:buClr>
                <a:srgbClr val="FF3300"/>
              </a:buClr>
              <a:buSzPct val="65000"/>
              <a:buFont typeface="Monotype Sorts" pitchFamily="2" charset="2"/>
              <a:buChar char="u"/>
              <a:defRPr/>
            </a:pPr>
            <a:endParaRPr lang="zh-CN" altLang="en-US" sz="1340" kern="0" noProof="1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0" name="Elbow Connector 67"/>
          <p:cNvCxnSpPr>
            <a:cxnSpLocks noChangeShapeType="1"/>
          </p:cNvCxnSpPr>
          <p:nvPr/>
        </p:nvCxnSpPr>
        <p:spPr bwMode="auto">
          <a:xfrm rot="5400000">
            <a:off x="3990182" y="2786856"/>
            <a:ext cx="514350" cy="4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4C8ECB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" name="Table 3"/>
          <p:cNvGraphicFramePr>
            <a:graphicFrameLocks noGrp="1"/>
          </p:cNvGraphicFramePr>
          <p:nvPr/>
        </p:nvGraphicFramePr>
        <p:xfrm>
          <a:off x="344488" y="1101725"/>
          <a:ext cx="1166812" cy="2276477"/>
        </p:xfrm>
        <a:graphic>
          <a:graphicData uri="http://schemas.openxmlformats.org/drawingml/2006/table">
            <a:tbl>
              <a:tblPr firstRow="1" bandRow="1"/>
              <a:tblGrid>
                <a:gridCol w="1166812"/>
              </a:tblGrid>
              <a:tr h="325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Segoe UI" panose="020B0502040204020203"/>
                        </a:defRPr>
                      </a:lvl9pPr>
                    </a:lstStyle>
                    <a:p>
                      <a:r>
                        <a:rPr lang="zh-CN" altLang="en-US" sz="13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业务部门</a:t>
                      </a:r>
                      <a:endParaRPr lang="zh-CN" altLang="en-US" sz="13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1896" marR="121896" marT="60955" marB="60955">
                    <a:lnL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99CFF"/>
                    </a:solidFill>
                  </a:tcPr>
                </a:tc>
              </a:tr>
              <a:tr h="325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9pPr>
                    </a:lstStyle>
                    <a:p>
                      <a:r>
                        <a:rPr lang="zh-CN" altLang="en-US" sz="13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信息中心</a:t>
                      </a:r>
                      <a:endParaRPr lang="zh-CN" altLang="en-US" sz="13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1896" marR="121896" marT="60955" marB="60955">
                    <a:lnL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5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9pPr>
                    </a:lstStyle>
                    <a:p>
                      <a:r>
                        <a:rPr lang="zh-CN" altLang="en-US" sz="13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药剂科</a:t>
                      </a:r>
                      <a:endParaRPr lang="zh-CN" altLang="en-US" sz="13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1896" marR="121896" marT="60955" marB="60955">
                    <a:lnL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5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9pPr>
                    </a:lstStyle>
                    <a:p>
                      <a:r>
                        <a:rPr lang="zh-CN" altLang="en-US" sz="13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信息科</a:t>
                      </a:r>
                      <a:endParaRPr lang="zh-CN" altLang="en-US" sz="13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1896" marR="121896" marT="60955" marB="60955">
                    <a:lnL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2521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egoe UI" panose="020B0502040204020203"/>
                        </a:defRPr>
                      </a:lvl9pPr>
                    </a:lstStyle>
                    <a:p>
                      <a:pPr marL="0" marR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3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...</a:t>
                      </a:r>
                      <a:endParaRPr lang="en-US" altLang="zh-CN" sz="13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121896" marR="121896" marT="60955" marB="60955">
                    <a:lnL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00AEEF">
                          <a:shade val="95000"/>
                          <a:satMod val="105000"/>
                        </a:srgb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2" name="Elbow Connector 14"/>
          <p:cNvCxnSpPr>
            <a:cxnSpLocks noChangeShapeType="1"/>
            <a:stCxn id="3" idx="1"/>
          </p:cNvCxnSpPr>
          <p:nvPr/>
        </p:nvCxnSpPr>
        <p:spPr bwMode="auto">
          <a:xfrm rot="10800000">
            <a:off x="1511300" y="2239963"/>
            <a:ext cx="223838" cy="1447800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00AEE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62"/>
          <p:cNvSpPr/>
          <p:nvPr/>
        </p:nvSpPr>
        <p:spPr>
          <a:xfrm>
            <a:off x="2693988" y="3582988"/>
            <a:ext cx="1323975" cy="512762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62539" tIns="81270" rIns="162539" bIns="81270" anchor="ctr"/>
          <a:lstStyle/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1200" b="1" noProof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院方项目经理</a:t>
            </a:r>
            <a:endParaRPr lang="zh-CN" altLang="en-US" sz="1200" b="1" noProof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14" name="Picture 2" descr="E:\My Documents\My Pictures\医疗图标\专家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525" y="1136650"/>
            <a:ext cx="5048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575" y="2603500"/>
            <a:ext cx="5715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直接连接符 94"/>
          <p:cNvCxnSpPr>
            <a:stCxn id="3" idx="1"/>
            <a:endCxn id="11" idx="3"/>
          </p:cNvCxnSpPr>
          <p:nvPr/>
        </p:nvCxnSpPr>
        <p:spPr>
          <a:xfrm flipH="1" flipV="1">
            <a:off x="1511300" y="2239963"/>
            <a:ext cx="223838" cy="1446212"/>
          </a:xfrm>
          <a:prstGeom prst="line">
            <a:avLst/>
          </a:prstGeom>
          <a:ln w="317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grpSp>
        <p:nvGrpSpPr>
          <p:cNvPr id="17" name="组 47"/>
          <p:cNvGrpSpPr/>
          <p:nvPr/>
        </p:nvGrpSpPr>
        <p:grpSpPr bwMode="auto">
          <a:xfrm>
            <a:off x="1349375" y="889000"/>
            <a:ext cx="776288" cy="758825"/>
            <a:chOff x="1333082" y="2247590"/>
            <a:chExt cx="738716" cy="778933"/>
          </a:xfrm>
        </p:grpSpPr>
        <p:pic>
          <p:nvPicPr>
            <p:cNvPr id="72771" name="Picture 4" descr="E:\My Documents\My Pictures\医疗图标\医院专家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3082" y="2247590"/>
              <a:ext cx="575733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72" name="Picture 4" descr="E:\My Documents\My Pictures\医疗图标\医院专家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065" y="2576237"/>
              <a:ext cx="321733" cy="433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Rectangle 2"/>
          <p:cNvSpPr>
            <a:spLocks noChangeArrowheads="1"/>
          </p:cNvSpPr>
          <p:nvPr/>
        </p:nvSpPr>
        <p:spPr bwMode="auto">
          <a:xfrm>
            <a:off x="8747125" y="3195638"/>
            <a:ext cx="1071563" cy="1362075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月例会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周例会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8747125" y="1136650"/>
            <a:ext cx="1044575" cy="1700213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月例会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8747125" y="4889500"/>
            <a:ext cx="1071563" cy="1758950"/>
          </a:xfrm>
          <a:prstGeom prst="rect">
            <a:avLst/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周例会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日例会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0058400" y="3195638"/>
            <a:ext cx="942975" cy="1373187"/>
          </a:xfrm>
          <a:prstGeom prst="rect">
            <a:avLst/>
          </a:prstGeom>
          <a:solidFill>
            <a:srgbClr val="1A74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月汇报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里程牌汇报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10040938" y="1136650"/>
            <a:ext cx="960437" cy="1698625"/>
          </a:xfrm>
          <a:prstGeom prst="rect">
            <a:avLst/>
          </a:prstGeom>
          <a:solidFill>
            <a:srgbClr val="1A74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里程碑汇报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专题会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总结会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0058400" y="4889500"/>
            <a:ext cx="942975" cy="1757363"/>
          </a:xfrm>
          <a:prstGeom prst="rect">
            <a:avLst/>
          </a:prstGeom>
          <a:solidFill>
            <a:srgbClr val="1A74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周报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日报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46"/>
          <p:cNvSpPr txBox="1">
            <a:spLocks noChangeArrowheads="1"/>
          </p:cNvSpPr>
          <p:nvPr/>
        </p:nvSpPr>
        <p:spPr bwMode="auto">
          <a:xfrm>
            <a:off x="11387138" y="1054100"/>
            <a:ext cx="722312" cy="1440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9" tIns="81270" rIns="162539" bIns="81270">
            <a:spAutoFit/>
          </a:bodyPr>
          <a:lstStyle/>
          <a:p>
            <a:pPr eaLnBrk="1" hangingPunct="1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沟通机制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5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9338" y="3030538"/>
            <a:ext cx="646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5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450" y="3765550"/>
            <a:ext cx="6270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左箭头 301"/>
          <p:cNvSpPr/>
          <p:nvPr/>
        </p:nvSpPr>
        <p:spPr>
          <a:xfrm>
            <a:off x="9775825" y="2014538"/>
            <a:ext cx="239713" cy="252412"/>
          </a:xfrm>
          <a:prstGeom prst="left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539" tIns="81270" rIns="162539" bIns="8127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1" name="左箭头 302"/>
          <p:cNvSpPr/>
          <p:nvPr/>
        </p:nvSpPr>
        <p:spPr>
          <a:xfrm>
            <a:off x="9798050" y="3813175"/>
            <a:ext cx="242888" cy="249238"/>
          </a:xfrm>
          <a:prstGeom prst="left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539" tIns="81270" rIns="162539" bIns="8127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2" name="左箭头 303"/>
          <p:cNvSpPr/>
          <p:nvPr/>
        </p:nvSpPr>
        <p:spPr>
          <a:xfrm>
            <a:off x="9818688" y="5530850"/>
            <a:ext cx="239712" cy="249238"/>
          </a:xfrm>
          <a:prstGeom prst="leftArrow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2539" tIns="81270" rIns="162539" bIns="8127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sz="160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33" name="图片 3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050" y="4560888"/>
            <a:ext cx="649288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62"/>
          <p:cNvSpPr/>
          <p:nvPr/>
        </p:nvSpPr>
        <p:spPr>
          <a:xfrm>
            <a:off x="4240213" y="3582988"/>
            <a:ext cx="1403350" cy="512762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162539" tIns="81270" rIns="162539" bIns="81270" anchor="ctr"/>
          <a:lstStyle/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1200" b="1" noProof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坤发项目经理</a:t>
            </a:r>
            <a:endParaRPr lang="zh-CN" altLang="en-US" sz="1200" b="1" noProof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 bwMode="auto">
          <a:xfrm>
            <a:off x="692150" y="2240314"/>
            <a:ext cx="7910994" cy="4360512"/>
            <a:chOff x="407" y="2065"/>
            <a:chExt cx="9932" cy="5825"/>
          </a:xfrm>
        </p:grpSpPr>
        <p:grpSp>
          <p:nvGrpSpPr>
            <p:cNvPr id="72753" name="组 64"/>
            <p:cNvGrpSpPr/>
            <p:nvPr/>
          </p:nvGrpSpPr>
          <p:grpSpPr bwMode="auto">
            <a:xfrm>
              <a:off x="566" y="5668"/>
              <a:ext cx="7519" cy="2222"/>
              <a:chOff x="1659652" y="4716124"/>
              <a:chExt cx="3580936" cy="1057315"/>
            </a:xfrm>
          </p:grpSpPr>
          <p:sp>
            <p:nvSpPr>
              <p:cNvPr id="48" name="Rectangle 60"/>
              <p:cNvSpPr/>
              <p:nvPr/>
            </p:nvSpPr>
            <p:spPr>
              <a:xfrm>
                <a:off x="1659652" y="4716124"/>
                <a:ext cx="3580936" cy="1057315"/>
              </a:xfrm>
              <a:prstGeom prst="rect">
                <a:avLst/>
              </a:prstGeom>
              <a:solidFill>
                <a:srgbClr val="0070C0"/>
              </a:solidFill>
              <a:ln w="9525" cap="flat" cmpd="sng" algn="ctr">
                <a:noFill/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en-US" sz="2000" b="1" kern="0" noProof="1">
                    <a:solidFill>
                      <a:srgbClr val="FFFFFF"/>
                    </a:solidFill>
                    <a:latin typeface="宋体" panose="02010600030101010101" pitchFamily="2" charset="-122"/>
                    <a:cs typeface="宋体" panose="02010600030101010101" pitchFamily="2" charset="-122"/>
                  </a:rPr>
                  <a:t>项目组</a:t>
                </a:r>
                <a:endParaRPr lang="zh-CN" altLang="en-US" sz="2000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1065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935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800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665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665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z="1335" b="1" kern="0" noProof="1">
                  <a:solidFill>
                    <a:srgbClr val="FFFFFF"/>
                  </a:solidFill>
                  <a:latin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49" name="Rectangle 61"/>
              <p:cNvSpPr/>
              <p:nvPr/>
            </p:nvSpPr>
            <p:spPr>
              <a:xfrm>
                <a:off x="1705211" y="5066209"/>
                <a:ext cx="398641" cy="508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1200" b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+mn-ea"/>
                  </a:rPr>
                  <a:t>药剂科</a:t>
                </a:r>
                <a:endParaRPr lang="zh-CN" altLang="en-US" sz="1200" b="1" noProof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0" name="Rectangle 61"/>
              <p:cNvSpPr/>
              <p:nvPr/>
            </p:nvSpPr>
            <p:spPr>
              <a:xfrm>
                <a:off x="2215851" y="5066209"/>
                <a:ext cx="396743" cy="508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1200" b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+mn-ea"/>
                  </a:rPr>
                  <a:t>信息科</a:t>
                </a:r>
                <a:endParaRPr lang="zh-CN" altLang="en-US" sz="1200" b="1" noProof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1" name="Rectangle 61"/>
              <p:cNvSpPr/>
              <p:nvPr/>
            </p:nvSpPr>
            <p:spPr>
              <a:xfrm>
                <a:off x="3274149" y="5066209"/>
                <a:ext cx="398641" cy="508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1200" b="1" noProof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项目组</a:t>
                </a:r>
                <a:endParaRPr lang="zh-CN" altLang="en-US" sz="1200" b="1" noProof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3" name="Rectangle 61"/>
              <p:cNvSpPr/>
              <p:nvPr/>
            </p:nvSpPr>
            <p:spPr>
              <a:xfrm>
                <a:off x="2750221" y="5066209"/>
                <a:ext cx="397692" cy="508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1200" b="1" noProof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支持组</a:t>
                </a:r>
                <a:endParaRPr lang="zh-CN" altLang="en-US" sz="1200" b="1" noProof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4" name="Rectangle 61"/>
              <p:cNvSpPr/>
              <p:nvPr/>
            </p:nvSpPr>
            <p:spPr>
              <a:xfrm>
                <a:off x="4335293" y="5066209"/>
                <a:ext cx="397692" cy="508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en-US" altLang="zh-CN" sz="1200" b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+mn-ea"/>
                  </a:rPr>
                  <a:t>IT</a:t>
                </a:r>
                <a:r>
                  <a:rPr lang="zh-CN" altLang="en-US" sz="1200" b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  <a:sym typeface="+mn-ea"/>
                  </a:rPr>
                  <a:t>组</a:t>
                </a:r>
                <a:endParaRPr lang="zh-CN" altLang="en-US" sz="1200" b="1" noProof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endParaRPr>
              </a:p>
            </p:txBody>
          </p:sp>
        </p:grpSp>
        <p:cxnSp>
          <p:nvCxnSpPr>
            <p:cNvPr id="38" name="直接连接符 90"/>
            <p:cNvCxnSpPr>
              <a:stCxn id="3" idx="1"/>
              <a:endCxn id="11" idx="3"/>
            </p:cNvCxnSpPr>
            <p:nvPr/>
          </p:nvCxnSpPr>
          <p:spPr>
            <a:xfrm flipH="1" flipV="1">
              <a:off x="1435" y="2065"/>
              <a:ext cx="281" cy="1932"/>
            </a:xfrm>
            <a:prstGeom prst="line">
              <a:avLst/>
            </a:prstGeom>
            <a:ln w="3175"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39" name="直接连接符 98"/>
            <p:cNvCxnSpPr>
              <a:stCxn id="3" idx="1"/>
              <a:endCxn id="11" idx="3"/>
            </p:cNvCxnSpPr>
            <p:nvPr/>
          </p:nvCxnSpPr>
          <p:spPr>
            <a:xfrm flipH="1" flipV="1">
              <a:off x="1435" y="2065"/>
              <a:ext cx="281" cy="1932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grpSp>
          <p:nvGrpSpPr>
            <p:cNvPr id="72756" name="组 3"/>
            <p:cNvGrpSpPr/>
            <p:nvPr/>
          </p:nvGrpSpPr>
          <p:grpSpPr bwMode="auto">
            <a:xfrm>
              <a:off x="6583" y="5088"/>
              <a:ext cx="1033" cy="1147"/>
              <a:chOff x="5384070" y="4708451"/>
              <a:chExt cx="493144" cy="547265"/>
            </a:xfrm>
          </p:grpSpPr>
          <p:pic>
            <p:nvPicPr>
              <p:cNvPr id="72761" name="Picture 3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2327" y="4708451"/>
                <a:ext cx="407737" cy="547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762" name="Picture 3"/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84070" y="4982083"/>
                <a:ext cx="203869" cy="273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763" name="Picture 3"/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1463" y="4937933"/>
                <a:ext cx="185751" cy="249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72757" name="Elbow Connector 67"/>
            <p:cNvCxnSpPr>
              <a:cxnSpLocks noChangeShapeType="1"/>
              <a:stCxn id="3" idx="1"/>
            </p:cNvCxnSpPr>
            <p:nvPr/>
          </p:nvCxnSpPr>
          <p:spPr bwMode="auto">
            <a:xfrm rot="5400000">
              <a:off x="4525" y="5217"/>
              <a:ext cx="607" cy="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4C8ECB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2" name="Rounded Rectangle 65"/>
            <p:cNvSpPr/>
            <p:nvPr/>
          </p:nvSpPr>
          <p:spPr>
            <a:xfrm>
              <a:off x="7913" y="6058"/>
              <a:ext cx="2426" cy="1733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162539" tIns="81270" rIns="162539" bIns="81270" anchor="ctr"/>
            <a:lstStyle/>
            <a:p>
              <a:pPr eaLnBrk="1" hangingPunct="1">
                <a:buClr>
                  <a:srgbClr val="FF3300"/>
                </a:buClr>
                <a:buSzPct val="65000"/>
                <a:buFont typeface="Monotype Sorts" pitchFamily="2" charset="2"/>
                <a:buChar char="u"/>
              </a:pPr>
              <a:r>
                <a:rPr lang="zh-CN" altLang="zh-CN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 </a:t>
              </a:r>
              <a:r>
                <a:rPr lang="zh-CN" altLang="en-US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项目实施（见</a:t>
              </a:r>
              <a:r>
                <a:rPr lang="zh-CN" altLang="en-US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hlinkClick r:id="rId11" action="ppaction://hlinkfile"/>
                </a:rPr>
                <a:t>附件</a:t>
              </a:r>
              <a:r>
                <a:rPr lang="en-US" altLang="zh-CN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hlinkClick r:id="rId11" action="ppaction://hlinkfile"/>
                </a:rPr>
                <a:t>4</a:t>
              </a:r>
              <a:r>
                <a:rPr lang="zh-CN" altLang="en-US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）</a:t>
              </a:r>
              <a:endParaRPr lang="zh-CN" altLang="zh-CN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eaLnBrk="1" hangingPunct="1">
                <a:buClr>
                  <a:srgbClr val="FF3300"/>
                </a:buClr>
                <a:buSzPct val="65000"/>
                <a:buFont typeface="Monotype Sorts" pitchFamily="2" charset="2"/>
                <a:buChar char="u"/>
              </a:pPr>
              <a:r>
                <a:rPr lang="zh-CN" altLang="en-US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 需求收集及处理</a:t>
              </a:r>
              <a:endParaRPr lang="zh-CN" altLang="zh-CN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eaLnBrk="1" hangingPunct="1">
                <a:buClr>
                  <a:srgbClr val="FF3300"/>
                </a:buClr>
                <a:buSzPct val="65000"/>
                <a:buFont typeface="Monotype Sorts" pitchFamily="2" charset="2"/>
                <a:buChar char="u"/>
              </a:pPr>
              <a:r>
                <a:rPr lang="zh-CN" altLang="en-US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 部门内部资源协调</a:t>
              </a:r>
              <a:endParaRPr lang="zh-CN" altLang="zh-CN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eaLnBrk="1" hangingPunct="1">
                <a:buClr>
                  <a:srgbClr val="FF3300"/>
                </a:buClr>
                <a:buSzPct val="65000"/>
                <a:buFont typeface="Monotype Sorts" pitchFamily="2" charset="2"/>
                <a:buChar char="u"/>
              </a:pPr>
              <a:r>
                <a:rPr lang="zh-CN" altLang="en-US" sz="1300" noProof="1"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 培训、考核、模拟和上线部署</a:t>
              </a:r>
              <a:endParaRPr lang="zh-CN" altLang="en-US" sz="130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  <a:p>
              <a:pPr eaLnBrk="1" hangingPunct="1">
                <a:buClr>
                  <a:srgbClr val="FF3300"/>
                </a:buClr>
                <a:buSzPct val="65000"/>
                <a:buFont typeface="Monotype Sorts" pitchFamily="2" charset="2"/>
                <a:buChar char="u"/>
              </a:pPr>
              <a:endParaRPr lang="zh-CN" altLang="en-US" sz="1300" noProof="1">
                <a:solidFill>
                  <a:srgbClr val="FF0000"/>
                </a:solidFill>
                <a:latin typeface="宋体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07" y="5668"/>
              <a:ext cx="9896" cy="2222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kumimoji="1" lang="zh-CN" altLang="en-US" sz="2135" noProof="1"/>
            </a:p>
          </p:txBody>
        </p:sp>
        <p:sp>
          <p:nvSpPr>
            <p:cNvPr id="44" name="Rectangle 61"/>
            <p:cNvSpPr/>
            <p:nvPr/>
          </p:nvSpPr>
          <p:spPr bwMode="auto">
            <a:xfrm>
              <a:off x="5085" y="6401"/>
              <a:ext cx="837" cy="1071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sz="1200" b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  <a:sym typeface="+mn-ea"/>
                </a:rPr>
                <a:t>药学组</a:t>
              </a:r>
              <a:endParaRPr lang="zh-CN" altLang="en-US" sz="1200" b="1" noProof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11195050" y="5530850"/>
            <a:ext cx="751840" cy="77533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2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线下</a:t>
            </a:r>
            <a:endParaRPr lang="zh-CN" altLang="en-US" sz="2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  <a:p>
            <a:pPr algn="ctr"/>
            <a:r>
              <a:rPr lang="zh-CN" altLang="en-US" sz="2000" b="1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沟通</a:t>
            </a:r>
            <a:endParaRPr lang="zh-CN" altLang="en-US" sz="2000" b="1">
              <a:ln w="15875"/>
              <a:gradFill>
                <a:gsLst>
                  <a:gs pos="0">
                    <a:schemeClr val="accent1">
                      <a:hueMod val="80000"/>
                    </a:schemeClr>
                  </a:gs>
                  <a:gs pos="100000">
                    <a:schemeClr val="accent1">
                      <a:alpha val="100000"/>
                    </a:schemeClr>
                  </a:gs>
                </a:gsLst>
                <a:lin ang="2700000" scaled="0"/>
              </a:gradFill>
              <a:effectLst/>
            </a:endParaRPr>
          </a:p>
        </p:txBody>
      </p:sp>
    </p:spTree>
  </p:cSld>
  <p:clrMapOvr>
    <a:masterClrMapping/>
  </p:clrMapOvr>
  <p:transition spd="slow" advClick="0" advTm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ahoma" panose="020B0604030504040204" pitchFamily="34" charset="0"/>
                <a:ea typeface="微软雅黑" panose="020B0503020204020204" pitchFamily="34" charset="-122"/>
              </a:rPr>
              <a:t>项目控制管理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21"/>
          <p:cNvSpPr>
            <a:spLocks noChangeArrowheads="1"/>
          </p:cNvSpPr>
          <p:nvPr/>
        </p:nvSpPr>
        <p:spPr bwMode="auto">
          <a:xfrm>
            <a:off x="5191125" y="2487613"/>
            <a:ext cx="974725" cy="342900"/>
          </a:xfrm>
          <a:prstGeom prst="downArrow">
            <a:avLst>
              <a:gd name="adj1" fmla="val 50000"/>
              <a:gd name="adj2" fmla="val 43519"/>
            </a:avLst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noProof="1"/>
          </a:p>
        </p:txBody>
      </p:sp>
      <p:sp>
        <p:nvSpPr>
          <p:cNvPr id="37" name="AutoShape 22"/>
          <p:cNvSpPr>
            <a:spLocks noChangeArrowheads="1"/>
          </p:cNvSpPr>
          <p:nvPr/>
        </p:nvSpPr>
        <p:spPr bwMode="auto">
          <a:xfrm>
            <a:off x="5191125" y="4022725"/>
            <a:ext cx="974725" cy="342900"/>
          </a:xfrm>
          <a:prstGeom prst="downArrow">
            <a:avLst>
              <a:gd name="adj1" fmla="val 50000"/>
              <a:gd name="adj2" fmla="val 43519"/>
            </a:avLst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noProof="1"/>
          </a:p>
        </p:txBody>
      </p:sp>
      <p:sp>
        <p:nvSpPr>
          <p:cNvPr id="74757" name="Text Box 9"/>
          <p:cNvSpPr txBox="1">
            <a:spLocks noChangeArrowheads="1"/>
          </p:cNvSpPr>
          <p:nvPr/>
        </p:nvSpPr>
        <p:spPr bwMode="auto">
          <a:xfrm>
            <a:off x="1593850" y="1584325"/>
            <a:ext cx="8126413" cy="721995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indent="457200"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39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911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83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55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/>
            <a:r>
              <a:rPr lang="zh-CN" altLang="en-US" b="1">
                <a:solidFill>
                  <a:srgbClr val="415789"/>
                </a:solidFill>
                <a:latin typeface="Impact" panose="020B0806030902050204" pitchFamily="34" charset="0"/>
              </a:rPr>
              <a:t>“周例会”和“周报告”制度</a:t>
            </a:r>
            <a:endParaRPr lang="zh-CN" altLang="en-US" b="1">
              <a:solidFill>
                <a:srgbClr val="415789"/>
              </a:solidFill>
              <a:latin typeface="Impact" panose="020B0806030902050204" pitchFamily="34" charset="0"/>
            </a:endParaRPr>
          </a:p>
          <a:p>
            <a:pPr marL="0" lvl="1" algn="ctr" eaLnBrk="1" latinLnBrk="1" hangingPunct="1"/>
            <a:r>
              <a:rPr lang="zh-CN" altLang="en-US" sz="2000">
                <a:solidFill>
                  <a:srgbClr val="415789"/>
                </a:solidFill>
                <a:latin typeface="Impact" panose="020B0806030902050204" pitchFamily="34" charset="0"/>
              </a:rPr>
              <a:t>定期（每周）检查，以解决过程中出现的问题</a:t>
            </a:r>
            <a:endParaRPr lang="zh-CN" altLang="en-US" sz="2000">
              <a:solidFill>
                <a:srgbClr val="415789"/>
              </a:solidFill>
              <a:latin typeface="Impact" panose="020B0806030902050204" pitchFamily="34" charset="0"/>
            </a:endParaRPr>
          </a:p>
        </p:txBody>
      </p:sp>
      <p:sp>
        <p:nvSpPr>
          <p:cNvPr id="74758" name="Text Box 23"/>
          <p:cNvSpPr txBox="1">
            <a:spLocks noChangeArrowheads="1"/>
          </p:cNvSpPr>
          <p:nvPr/>
        </p:nvSpPr>
        <p:spPr bwMode="auto">
          <a:xfrm>
            <a:off x="1593850" y="2944813"/>
            <a:ext cx="8126413" cy="768350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indent="457200"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6339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30911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5483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4005580" indent="-347980" defTabSz="1089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latinLnBrk="1" hangingPunct="1"/>
            <a:r>
              <a:rPr lang="zh-CN" altLang="en-US" sz="2400" b="1">
                <a:solidFill>
                  <a:srgbClr val="415789"/>
                </a:solidFill>
                <a:latin typeface="Impact" panose="020B0806030902050204" pitchFamily="34" charset="0"/>
              </a:rPr>
              <a:t>现场项目检查和督导机制</a:t>
            </a:r>
            <a:endParaRPr lang="zh-CN" altLang="en-US" sz="2400" b="1">
              <a:solidFill>
                <a:srgbClr val="415789"/>
              </a:solidFill>
              <a:latin typeface="Impact" panose="020B0806030902050204" pitchFamily="34" charset="0"/>
            </a:endParaRPr>
          </a:p>
          <a:p>
            <a:pPr marL="0" lvl="1" algn="ctr" eaLnBrk="1" latinLnBrk="1" hangingPunct="1"/>
            <a:r>
              <a:rPr lang="zh-CN" altLang="en-US" sz="2000">
                <a:solidFill>
                  <a:srgbClr val="415789"/>
                </a:solidFill>
                <a:latin typeface="Impact" panose="020B0806030902050204" pitchFamily="34" charset="0"/>
              </a:rPr>
              <a:t>充分发挥项目督导的作用，对项目范围、进度、质量进行把控</a:t>
            </a:r>
            <a:endParaRPr lang="zh-CN" altLang="en-US" sz="2000">
              <a:solidFill>
                <a:srgbClr val="415789"/>
              </a:solidFill>
              <a:latin typeface="Impact" panose="020B0806030902050204" pitchFamily="34" charset="0"/>
            </a:endParaRPr>
          </a:p>
        </p:txBody>
      </p:sp>
      <p:sp>
        <p:nvSpPr>
          <p:cNvPr id="41" name="Text Box 26"/>
          <p:cNvSpPr txBox="1">
            <a:spLocks noChangeArrowheads="1"/>
          </p:cNvSpPr>
          <p:nvPr/>
        </p:nvSpPr>
        <p:spPr bwMode="auto">
          <a:xfrm>
            <a:off x="1593850" y="4440238"/>
            <a:ext cx="8126413" cy="460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lvl="1"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b="1" noProof="1">
                <a:solidFill>
                  <a:srgbClr val="415789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项目组建立阶段性成果总结、评估制度</a:t>
            </a:r>
            <a:endParaRPr lang="zh-CN" altLang="en-US" sz="2135" b="1" noProof="1">
              <a:solidFill>
                <a:schemeClr val="accent6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22"/>
          <p:cNvSpPr>
            <a:spLocks noChangeArrowheads="1"/>
          </p:cNvSpPr>
          <p:nvPr/>
        </p:nvSpPr>
        <p:spPr bwMode="auto">
          <a:xfrm>
            <a:off x="5216525" y="5013325"/>
            <a:ext cx="974725" cy="342900"/>
          </a:xfrm>
          <a:prstGeom prst="downArrow">
            <a:avLst>
              <a:gd name="adj1" fmla="val 50000"/>
              <a:gd name="adj2" fmla="val 40426"/>
            </a:avLst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sz="2400" noProof="1"/>
          </a:p>
        </p:txBody>
      </p:sp>
      <p:sp>
        <p:nvSpPr>
          <p:cNvPr id="44" name="Text Box 26"/>
          <p:cNvSpPr txBox="1">
            <a:spLocks noChangeArrowheads="1"/>
          </p:cNvSpPr>
          <p:nvPr/>
        </p:nvSpPr>
        <p:spPr bwMode="auto">
          <a:xfrm>
            <a:off x="1614488" y="5453063"/>
            <a:ext cx="8128000" cy="6451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400" b="1" noProof="1">
                <a:solidFill>
                  <a:srgbClr val="415789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项目过程出现变更，双方共同讨论并确定变更方针</a:t>
            </a:r>
            <a:endParaRPr lang="zh-CN" altLang="en-US" sz="2135" b="1" noProof="1">
              <a:solidFill>
                <a:schemeClr val="accent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381625" y="1002030"/>
            <a:ext cx="512763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6301794" y="5321469"/>
            <a:ext cx="3150357" cy="511504"/>
            <a:chOff x="6437968" y="943806"/>
            <a:chExt cx="3744416" cy="511504"/>
          </a:xfrm>
          <a:solidFill>
            <a:schemeClr val="bg1">
              <a:lumMod val="95000"/>
            </a:schemeClr>
          </a:solidFill>
        </p:grpSpPr>
        <p:sp>
          <p:nvSpPr>
            <p:cNvPr id="18" name="圆角矩形 17"/>
            <p:cNvSpPr/>
            <p:nvPr/>
          </p:nvSpPr>
          <p:spPr>
            <a:xfrm>
              <a:off x="6437968" y="943806"/>
              <a:ext cx="3744416" cy="511504"/>
            </a:xfrm>
            <a:prstGeom prst="roundRect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6503684" y="984729"/>
              <a:ext cx="3335359" cy="429260"/>
            </a:xfrm>
            <a:prstGeom prst="rect">
              <a:avLst/>
            </a:prstGeom>
            <a:grpFill/>
          </p:spPr>
          <p:txBody>
            <a:bodyPr lIns="121960" tIns="60980" rIns="121960" bIns="60980">
              <a:spAutoFit/>
            </a:bodyPr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r>
                <a:rPr lang="zh-CN" altLang="en-US" sz="2000" b="1" kern="100" noProof="1">
                  <a:solidFill>
                    <a:schemeClr val="accent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项目预期成果展示</a:t>
              </a:r>
              <a:endParaRPr lang="zh-CN" altLang="zh-CN" sz="2000" b="1" kern="100" noProof="1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5381625" y="169894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5381625" y="2419668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806" name="组合 24"/>
          <p:cNvGrpSpPr/>
          <p:nvPr/>
        </p:nvGrpSpPr>
        <p:grpSpPr bwMode="auto">
          <a:xfrm>
            <a:off x="6230938" y="1002030"/>
            <a:ext cx="3151187" cy="512763"/>
            <a:chOff x="6339097" y="3296031"/>
            <a:chExt cx="3744794" cy="511504"/>
          </a:xfrm>
        </p:grpSpPr>
        <p:sp>
          <p:nvSpPr>
            <p:cNvPr id="26" name="圆角矩形 25"/>
            <p:cNvSpPr/>
            <p:nvPr/>
          </p:nvSpPr>
          <p:spPr>
            <a:xfrm>
              <a:off x="6339097" y="3296031"/>
              <a:ext cx="3744794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6831" name="矩形 26"/>
            <p:cNvSpPr>
              <a:spLocks noChangeArrowheads="1"/>
            </p:cNvSpPr>
            <p:nvPr/>
          </p:nvSpPr>
          <p:spPr bwMode="auto">
            <a:xfrm>
              <a:off x="6442469" y="3336571"/>
              <a:ext cx="3641422" cy="428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医院信息系统现状与目标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-106937" y="0"/>
            <a:ext cx="3469808" cy="6859587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37" name="TextBox 36"/>
          <p:cNvSpPr txBox="1"/>
          <p:nvPr/>
        </p:nvSpPr>
        <p:spPr>
          <a:xfrm>
            <a:off x="195263" y="2219325"/>
            <a:ext cx="2808287" cy="1352550"/>
          </a:xfrm>
          <a:prstGeom prst="rect">
            <a:avLst/>
          </a:prstGeom>
          <a:noFill/>
        </p:spPr>
        <p:txBody>
          <a:bodyPr lIns="121948" tIns="60973" rIns="121948" bIns="60973">
            <a:spAutoFit/>
          </a:bodyPr>
          <a:lstStyle/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4800" b="1" spc="200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200" b="1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370513" y="3138805"/>
            <a:ext cx="514350" cy="512763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812" name="组合 24"/>
          <p:cNvGrpSpPr/>
          <p:nvPr/>
        </p:nvGrpSpPr>
        <p:grpSpPr bwMode="auto">
          <a:xfrm>
            <a:off x="6238875" y="1706880"/>
            <a:ext cx="3149600" cy="511175"/>
            <a:chOff x="6339097" y="3296031"/>
            <a:chExt cx="3744416" cy="510866"/>
          </a:xfrm>
        </p:grpSpPr>
        <p:sp>
          <p:nvSpPr>
            <p:cNvPr id="25" name="圆角矩形 24"/>
            <p:cNvSpPr/>
            <p:nvPr/>
          </p:nvSpPr>
          <p:spPr>
            <a:xfrm>
              <a:off x="6339097" y="3296031"/>
              <a:ext cx="3744416" cy="5108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6829" name="矩形 27"/>
            <p:cNvSpPr>
              <a:spLocks noChangeArrowheads="1"/>
            </p:cNvSpPr>
            <p:nvPr/>
          </p:nvSpPr>
          <p:spPr bwMode="auto">
            <a:xfrm>
              <a:off x="6490889" y="3336319"/>
              <a:ext cx="3414385" cy="42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项目范围介绍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圆角矩形 28"/>
          <p:cNvSpPr/>
          <p:nvPr/>
        </p:nvSpPr>
        <p:spPr>
          <a:xfrm>
            <a:off x="5381625" y="3859530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814" name="组合 24"/>
          <p:cNvGrpSpPr/>
          <p:nvPr/>
        </p:nvGrpSpPr>
        <p:grpSpPr bwMode="auto">
          <a:xfrm>
            <a:off x="6238875" y="2421255"/>
            <a:ext cx="3149600" cy="511175"/>
            <a:chOff x="6339097" y="3296031"/>
            <a:chExt cx="3744416" cy="510866"/>
          </a:xfrm>
        </p:grpSpPr>
        <p:sp>
          <p:nvSpPr>
            <p:cNvPr id="31" name="圆角矩形 30"/>
            <p:cNvSpPr/>
            <p:nvPr/>
          </p:nvSpPr>
          <p:spPr>
            <a:xfrm>
              <a:off x="6339097" y="3296031"/>
              <a:ext cx="3744416" cy="51086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6827" name="矩形 31"/>
            <p:cNvSpPr>
              <a:spLocks noChangeArrowheads="1"/>
            </p:cNvSpPr>
            <p:nvPr/>
          </p:nvSpPr>
          <p:spPr bwMode="auto">
            <a:xfrm>
              <a:off x="6479513" y="3336012"/>
              <a:ext cx="3425839" cy="42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项目进度计划与里程碑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5381625" y="4580255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816" name="组合 24"/>
          <p:cNvGrpSpPr/>
          <p:nvPr/>
        </p:nvGrpSpPr>
        <p:grpSpPr bwMode="auto">
          <a:xfrm>
            <a:off x="6262688" y="3124518"/>
            <a:ext cx="3151187" cy="511175"/>
            <a:chOff x="6339097" y="3296031"/>
            <a:chExt cx="3744416" cy="510867"/>
          </a:xfrm>
        </p:grpSpPr>
        <p:sp>
          <p:nvSpPr>
            <p:cNvPr id="35" name="圆角矩形 34"/>
            <p:cNvSpPr/>
            <p:nvPr/>
          </p:nvSpPr>
          <p:spPr>
            <a:xfrm>
              <a:off x="6339097" y="3296031"/>
              <a:ext cx="3744416" cy="51086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6825" name="矩形 38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项目风险管理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圆角矩形 39"/>
          <p:cNvSpPr/>
          <p:nvPr/>
        </p:nvSpPr>
        <p:spPr>
          <a:xfrm>
            <a:off x="5381625" y="5299393"/>
            <a:ext cx="512763" cy="51117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sz="3600" noProof="1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818" name="组合 24"/>
          <p:cNvGrpSpPr/>
          <p:nvPr/>
        </p:nvGrpSpPr>
        <p:grpSpPr bwMode="auto">
          <a:xfrm>
            <a:off x="6262688" y="3851593"/>
            <a:ext cx="3151187" cy="511175"/>
            <a:chOff x="6339097" y="3296031"/>
            <a:chExt cx="3744416" cy="511909"/>
          </a:xfrm>
        </p:grpSpPr>
        <p:sp>
          <p:nvSpPr>
            <p:cNvPr id="42" name="圆角矩形 41"/>
            <p:cNvSpPr/>
            <p:nvPr/>
          </p:nvSpPr>
          <p:spPr>
            <a:xfrm>
              <a:off x="6339097" y="3296031"/>
              <a:ext cx="3744416" cy="51190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6823" name="矩形 42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项目团队与职责分工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819" name="组合 24"/>
          <p:cNvGrpSpPr/>
          <p:nvPr/>
        </p:nvGrpSpPr>
        <p:grpSpPr bwMode="auto">
          <a:xfrm>
            <a:off x="6297613" y="4616768"/>
            <a:ext cx="3151187" cy="511175"/>
            <a:chOff x="6339097" y="3296031"/>
            <a:chExt cx="3744416" cy="511504"/>
          </a:xfrm>
        </p:grpSpPr>
        <p:sp>
          <p:nvSpPr>
            <p:cNvPr id="45" name="圆角矩形 44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eaLnBrk="1" fontAlgn="auto" hangingPunct="1">
                <a:buFont typeface="Arial" panose="020B0604020202020204" pitchFamily="34" charset="0"/>
                <a:buNone/>
                <a:defRPr/>
              </a:pPr>
              <a:endParaRPr lang="zh-CN" altLang="en-US" sz="3600" noProof="1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6821" name="矩形 45"/>
            <p:cNvSpPr>
              <a:spLocks noChangeArrowheads="1"/>
            </p:cNvSpPr>
            <p:nvPr/>
          </p:nvSpPr>
          <p:spPr bwMode="auto">
            <a:xfrm>
              <a:off x="6479156" y="3336319"/>
              <a:ext cx="3116273" cy="429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60" tIns="60980" rIns="121960" bIns="60980">
              <a:spAutoFit/>
            </a:bodyPr>
            <a:lstStyle/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项目沟通协调机制</a:t>
              </a:r>
              <a:endParaRPr lang="zh-CN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圆角矩形 102"/>
          <p:cNvSpPr/>
          <p:nvPr>
            <p:custDataLst>
              <p:tags r:id="rId1"/>
            </p:custDataLst>
          </p:nvPr>
        </p:nvSpPr>
        <p:spPr>
          <a:xfrm>
            <a:off x="1560195" y="5013960"/>
            <a:ext cx="10200005" cy="1441450"/>
          </a:xfrm>
          <a:prstGeom prst="roundRect">
            <a:avLst>
              <a:gd name="adj" fmla="val 10176"/>
            </a:avLst>
          </a:prstGeom>
          <a:solidFill>
            <a:schemeClr val="bg1"/>
          </a:solidFill>
          <a:ln w="6350"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686800" y="5870575"/>
            <a:ext cx="2884170" cy="464185"/>
            <a:chOff x="13680" y="9064"/>
            <a:chExt cx="4542" cy="912"/>
          </a:xfrm>
          <a:solidFill>
            <a:schemeClr val="bg1"/>
          </a:solidFill>
        </p:grpSpPr>
        <p:sp>
          <p:nvSpPr>
            <p:cNvPr id="119" name="圆角矩形 92"/>
            <p:cNvSpPr/>
            <p:nvPr>
              <p:custDataLst>
                <p:tags r:id="rId2"/>
              </p:custDataLst>
            </p:nvPr>
          </p:nvSpPr>
          <p:spPr>
            <a:xfrm>
              <a:off x="13680" y="9064"/>
              <a:ext cx="4543" cy="913"/>
            </a:xfrm>
            <a:prstGeom prst="roundRect">
              <a:avLst/>
            </a:prstGeom>
            <a:grpFill/>
            <a:ln w="12700">
              <a:solidFill>
                <a:srgbClr val="4A7EBB"/>
              </a:solidFill>
              <a:prstDash val="lg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605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0" name="圆角矩形 119"/>
            <p:cNvSpPr/>
            <p:nvPr>
              <p:custDataLst>
                <p:tags r:id="rId3"/>
              </p:custDataLst>
            </p:nvPr>
          </p:nvSpPr>
          <p:spPr>
            <a:xfrm>
              <a:off x="13940" y="9222"/>
              <a:ext cx="4024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坤发药品</a:t>
              </a: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知识库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7" name="圆角矩形 16"/>
          <p:cNvSpPr/>
          <p:nvPr>
            <p:custDataLst>
              <p:tags r:id="rId4"/>
            </p:custDataLst>
          </p:nvPr>
        </p:nvSpPr>
        <p:spPr>
          <a:xfrm>
            <a:off x="1560195" y="3176905"/>
            <a:ext cx="10200005" cy="1441450"/>
          </a:xfrm>
          <a:prstGeom prst="roundRect">
            <a:avLst>
              <a:gd name="adj" fmla="val 10176"/>
            </a:avLst>
          </a:prstGeom>
          <a:solidFill>
            <a:schemeClr val="bg1"/>
          </a:solidFill>
          <a:ln w="6350"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圆角矩形 17"/>
          <p:cNvSpPr/>
          <p:nvPr>
            <p:custDataLst>
              <p:tags r:id="rId5"/>
            </p:custDataLst>
          </p:nvPr>
        </p:nvSpPr>
        <p:spPr>
          <a:xfrm>
            <a:off x="1560195" y="1341755"/>
            <a:ext cx="10200005" cy="1441450"/>
          </a:xfrm>
          <a:prstGeom prst="roundRect">
            <a:avLst>
              <a:gd name="adj" fmla="val 10176"/>
            </a:avLst>
          </a:prstGeom>
          <a:solidFill>
            <a:schemeClr val="bg1"/>
          </a:solidFill>
          <a:ln w="6350"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8850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产品构架</a:t>
            </a:r>
            <a:endParaRPr lang="zh-CN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圆角矩形 70"/>
          <p:cNvSpPr/>
          <p:nvPr>
            <p:custDataLst>
              <p:tags r:id="rId6"/>
            </p:custDataLst>
          </p:nvPr>
        </p:nvSpPr>
        <p:spPr>
          <a:xfrm>
            <a:off x="1790065" y="1413510"/>
            <a:ext cx="2694940" cy="408940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可视化分析引擎（</a:t>
            </a:r>
            <a:r>
              <a:rPr lang="en-US" altLang="zh-CN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BI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）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圆角矩形 70"/>
          <p:cNvSpPr/>
          <p:nvPr>
            <p:custDataLst>
              <p:tags r:id="rId7"/>
            </p:custDataLst>
          </p:nvPr>
        </p:nvSpPr>
        <p:spPr>
          <a:xfrm>
            <a:off x="515938" y="3178630"/>
            <a:ext cx="684000" cy="1439545"/>
          </a:xfrm>
          <a:prstGeom prst="roundRect">
            <a:avLst/>
          </a:prstGeom>
          <a:solidFill>
            <a:srgbClr val="4A7E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管理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6" name="圆角矩形 70"/>
          <p:cNvSpPr/>
          <p:nvPr>
            <p:custDataLst>
              <p:tags r:id="rId8"/>
            </p:custDataLst>
          </p:nvPr>
        </p:nvSpPr>
        <p:spPr>
          <a:xfrm>
            <a:off x="515938" y="1341755"/>
            <a:ext cx="684000" cy="1440000"/>
          </a:xfrm>
          <a:prstGeom prst="roundRect">
            <a:avLst/>
          </a:prstGeom>
          <a:solidFill>
            <a:srgbClr val="4A7E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应用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78" name="圆角矩形 70"/>
          <p:cNvSpPr/>
          <p:nvPr>
            <p:custDataLst>
              <p:tags r:id="rId9"/>
            </p:custDataLst>
          </p:nvPr>
        </p:nvSpPr>
        <p:spPr>
          <a:xfrm>
            <a:off x="515938" y="5015050"/>
            <a:ext cx="684000" cy="1439545"/>
          </a:xfrm>
          <a:prstGeom prst="roundRect">
            <a:avLst/>
          </a:prstGeom>
          <a:solidFill>
            <a:srgbClr val="4A7E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仓库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104" name="流程图: 磁盘 66"/>
          <p:cNvSpPr/>
          <p:nvPr>
            <p:custDataLst>
              <p:tags r:id="rId10"/>
            </p:custDataLst>
          </p:nvPr>
        </p:nvSpPr>
        <p:spPr>
          <a:xfrm>
            <a:off x="1713230" y="5085715"/>
            <a:ext cx="9858375" cy="387350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药学数据仓库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13230" y="5870575"/>
            <a:ext cx="6804660" cy="464185"/>
            <a:chOff x="2698" y="9064"/>
            <a:chExt cx="10716" cy="912"/>
          </a:xfrm>
          <a:solidFill>
            <a:schemeClr val="bg1"/>
          </a:solidFill>
        </p:grpSpPr>
        <p:sp>
          <p:nvSpPr>
            <p:cNvPr id="115" name="圆角矩形 92"/>
            <p:cNvSpPr/>
            <p:nvPr>
              <p:custDataLst>
                <p:tags r:id="rId11"/>
              </p:custDataLst>
            </p:nvPr>
          </p:nvSpPr>
          <p:spPr>
            <a:xfrm>
              <a:off x="2698" y="9064"/>
              <a:ext cx="10716" cy="913"/>
            </a:xfrm>
            <a:prstGeom prst="roundRect">
              <a:avLst/>
            </a:prstGeom>
            <a:grpFill/>
            <a:ln w="12700">
              <a:solidFill>
                <a:srgbClr val="4A7EBB"/>
              </a:solidFill>
              <a:prstDash val="lg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rtlCol="0" anchor="ctr"/>
            <a:p>
              <a:pPr algn="ctr"/>
              <a:endParaRPr lang="zh-CN" altLang="en-US" sz="1605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5" name="圆角矩形 104"/>
            <p:cNvSpPr/>
            <p:nvPr>
              <p:custDataLst>
                <p:tags r:id="rId12"/>
              </p:custDataLst>
            </p:nvPr>
          </p:nvSpPr>
          <p:spPr>
            <a:xfrm>
              <a:off x="2811" y="9222"/>
              <a:ext cx="926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HIS</a:t>
              </a: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6" name="圆角矩形 105"/>
            <p:cNvSpPr/>
            <p:nvPr>
              <p:custDataLst>
                <p:tags r:id="rId13"/>
              </p:custDataLst>
            </p:nvPr>
          </p:nvSpPr>
          <p:spPr>
            <a:xfrm>
              <a:off x="9189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RIS</a:t>
              </a: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7" name="圆角矩形 106"/>
            <p:cNvSpPr/>
            <p:nvPr>
              <p:custDataLst>
                <p:tags r:id="rId14"/>
              </p:custDataLst>
            </p:nvPr>
          </p:nvSpPr>
          <p:spPr>
            <a:xfrm>
              <a:off x="4937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临床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8" name="圆角矩形 107"/>
            <p:cNvSpPr/>
            <p:nvPr>
              <p:custDataLst>
                <p:tags r:id="rId15"/>
              </p:custDataLst>
            </p:nvPr>
          </p:nvSpPr>
          <p:spPr>
            <a:xfrm>
              <a:off x="8126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LIS</a:t>
              </a: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9" name="圆角矩形 108"/>
            <p:cNvSpPr/>
            <p:nvPr>
              <p:custDataLst>
                <p:tags r:id="rId16"/>
              </p:custDataLst>
            </p:nvPr>
          </p:nvSpPr>
          <p:spPr>
            <a:xfrm>
              <a:off x="6000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病历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0" name="圆角矩形 109"/>
            <p:cNvSpPr/>
            <p:nvPr>
              <p:custDataLst>
                <p:tags r:id="rId17"/>
              </p:custDataLst>
            </p:nvPr>
          </p:nvSpPr>
          <p:spPr>
            <a:xfrm>
              <a:off x="11315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病案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1" name="圆角矩形 110"/>
            <p:cNvSpPr/>
            <p:nvPr>
              <p:custDataLst>
                <p:tags r:id="rId18"/>
              </p:custDataLst>
            </p:nvPr>
          </p:nvSpPr>
          <p:spPr>
            <a:xfrm>
              <a:off x="7063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医嘱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2" name="圆角矩形 111"/>
            <p:cNvSpPr/>
            <p:nvPr>
              <p:custDataLst>
                <p:tags r:id="rId19"/>
              </p:custDataLst>
            </p:nvPr>
          </p:nvSpPr>
          <p:spPr>
            <a:xfrm>
              <a:off x="10252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手麻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3" name="圆角矩形 112"/>
            <p:cNvSpPr/>
            <p:nvPr>
              <p:custDataLst>
                <p:tags r:id="rId20"/>
              </p:custDataLst>
            </p:nvPr>
          </p:nvSpPr>
          <p:spPr>
            <a:xfrm>
              <a:off x="3874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en-US" altLang="zh-CN" sz="15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NIS</a:t>
              </a:r>
              <a:endParaRPr lang="zh-CN" altLang="en-US" sz="15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4" name="圆角矩形 113"/>
            <p:cNvSpPr/>
            <p:nvPr>
              <p:custDataLst>
                <p:tags r:id="rId21"/>
              </p:custDataLst>
            </p:nvPr>
          </p:nvSpPr>
          <p:spPr>
            <a:xfrm>
              <a:off x="12378" y="9222"/>
              <a:ext cx="925" cy="647"/>
            </a:xfrm>
            <a:prstGeom prst="roundRect">
              <a:avLst/>
            </a:prstGeom>
            <a:grpFill/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/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物资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618990" y="5509895"/>
            <a:ext cx="5662930" cy="306070"/>
            <a:chOff x="5083" y="5337"/>
            <a:chExt cx="8918" cy="482"/>
          </a:xfrm>
        </p:grpSpPr>
        <p:sp>
          <p:nvSpPr>
            <p:cNvPr id="116" name="矩形 115"/>
            <p:cNvSpPr/>
            <p:nvPr>
              <p:custDataLst>
                <p:tags r:id="rId22"/>
              </p:custDataLst>
            </p:nvPr>
          </p:nvSpPr>
          <p:spPr>
            <a:xfrm>
              <a:off x="8559" y="5337"/>
              <a:ext cx="1968" cy="483"/>
            </a:xfrm>
            <a:prstGeom prst="rect">
              <a:avLst/>
            </a:prstGeom>
            <a:noFill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square" rtlCol="0" anchor="ctr">
              <a:spAutoFit/>
            </a:bodyPr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依据标准接口</a:t>
              </a:r>
              <a:endParaRPr lang="zh-CN" altLang="en-US" sz="1400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1" name="下箭头 135"/>
            <p:cNvSpPr/>
            <p:nvPr>
              <p:custDataLst>
                <p:tags r:id="rId23"/>
              </p:custDataLst>
            </p:nvPr>
          </p:nvSpPr>
          <p:spPr>
            <a:xfrm rot="10800000">
              <a:off x="5083" y="5349"/>
              <a:ext cx="586" cy="459"/>
            </a:xfrm>
            <a:prstGeom prst="downArrow">
              <a:avLst/>
            </a:prstGeom>
            <a:solidFill>
              <a:srgbClr val="4A7EBB"/>
            </a:solidFill>
            <a:ln>
              <a:solidFill>
                <a:srgbClr val="11476A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p>
              <a:pPr algn="ctr"/>
              <a:endParaRPr lang="zh-CN" altLang="en-US" sz="1605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2" name="下箭头 135"/>
            <p:cNvSpPr/>
            <p:nvPr>
              <p:custDataLst>
                <p:tags r:id="rId24"/>
              </p:custDataLst>
            </p:nvPr>
          </p:nvSpPr>
          <p:spPr>
            <a:xfrm rot="10800000">
              <a:off x="13417" y="5349"/>
              <a:ext cx="585" cy="459"/>
            </a:xfrm>
            <a:prstGeom prst="downArrow">
              <a:avLst/>
            </a:prstGeom>
            <a:solidFill>
              <a:srgbClr val="4A7EBB"/>
            </a:solidFill>
            <a:ln>
              <a:solidFill>
                <a:srgbClr val="11476A"/>
              </a:solidFill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605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" name="圆角矩形 70"/>
          <p:cNvSpPr/>
          <p:nvPr>
            <p:custDataLst>
              <p:tags r:id="rId25"/>
            </p:custDataLst>
          </p:nvPr>
        </p:nvSpPr>
        <p:spPr>
          <a:xfrm>
            <a:off x="4732020" y="1415415"/>
            <a:ext cx="6840220" cy="410845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药事运营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决策分析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211570" y="3272155"/>
            <a:ext cx="2395220" cy="1252220"/>
            <a:chOff x="15252" y="5152"/>
            <a:chExt cx="2958" cy="1972"/>
          </a:xfrm>
        </p:grpSpPr>
        <p:sp>
          <p:nvSpPr>
            <p:cNvPr id="19" name="圆角矩形 92"/>
            <p:cNvSpPr/>
            <p:nvPr>
              <p:custDataLst>
                <p:tags r:id="rId26"/>
              </p:custDataLst>
            </p:nvPr>
          </p:nvSpPr>
          <p:spPr>
            <a:xfrm>
              <a:off x="15252" y="5152"/>
              <a:ext cx="2959" cy="1973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4A7EBB"/>
              </a:solidFill>
              <a:prstDash val="lg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605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圆角矩形 14"/>
            <p:cNvSpPr/>
            <p:nvPr>
              <p:custDataLst>
                <p:tags r:id="rId27"/>
              </p:custDataLst>
            </p:nvPr>
          </p:nvSpPr>
          <p:spPr>
            <a:xfrm>
              <a:off x="15469" y="5879"/>
              <a:ext cx="2526" cy="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地方数据</a:t>
              </a: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标准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圆角矩形 15"/>
            <p:cNvSpPr/>
            <p:nvPr>
              <p:custDataLst>
                <p:tags r:id="rId28"/>
              </p:custDataLst>
            </p:nvPr>
          </p:nvSpPr>
          <p:spPr>
            <a:xfrm>
              <a:off x="15469" y="6490"/>
              <a:ext cx="2526" cy="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药学数据</a:t>
              </a: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标准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圆角矩形 19"/>
            <p:cNvSpPr/>
            <p:nvPr>
              <p:custDataLst>
                <p:tags r:id="rId29"/>
              </p:custDataLst>
            </p:nvPr>
          </p:nvSpPr>
          <p:spPr>
            <a:xfrm>
              <a:off x="15469" y="5268"/>
              <a:ext cx="2526" cy="51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4A7EB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国家</a:t>
              </a: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数据</a:t>
              </a: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cs typeface="+mn-ea"/>
                  <a:sym typeface="Arial" panose="020B0604020202020204" pitchFamily="34" charset="0"/>
                </a:rPr>
                <a:t>标准</a:t>
              </a:r>
              <a:endPara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3" name="下箭头 135"/>
          <p:cNvSpPr/>
          <p:nvPr>
            <p:custDataLst>
              <p:tags r:id="rId30"/>
            </p:custDataLst>
          </p:nvPr>
        </p:nvSpPr>
        <p:spPr>
          <a:xfrm rot="5400000">
            <a:off x="5691291" y="3753195"/>
            <a:ext cx="371475" cy="291752"/>
          </a:xfrm>
          <a:prstGeom prst="downArrow">
            <a:avLst/>
          </a:prstGeom>
          <a:solidFill>
            <a:srgbClr val="4A7EBB"/>
          </a:solidFill>
          <a:ln>
            <a:solidFill>
              <a:srgbClr val="11476A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5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圆角矩形 70"/>
          <p:cNvSpPr/>
          <p:nvPr>
            <p:custDataLst>
              <p:tags r:id="rId31"/>
            </p:custDataLst>
          </p:nvPr>
        </p:nvSpPr>
        <p:spPr>
          <a:xfrm>
            <a:off x="1846580" y="3773805"/>
            <a:ext cx="683895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清洗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圆角矩形 70"/>
          <p:cNvSpPr/>
          <p:nvPr>
            <p:custDataLst>
              <p:tags r:id="rId32"/>
            </p:custDataLst>
          </p:nvPr>
        </p:nvSpPr>
        <p:spPr>
          <a:xfrm>
            <a:off x="3075305" y="3773805"/>
            <a:ext cx="683895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治理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圆角矩形 70"/>
          <p:cNvSpPr/>
          <p:nvPr>
            <p:custDataLst>
              <p:tags r:id="rId33"/>
            </p:custDataLst>
          </p:nvPr>
        </p:nvSpPr>
        <p:spPr>
          <a:xfrm>
            <a:off x="4304030" y="3773805"/>
            <a:ext cx="129540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按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业务域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存储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圆角矩形 70"/>
          <p:cNvSpPr/>
          <p:nvPr>
            <p:custDataLst>
              <p:tags r:id="rId34"/>
            </p:custDataLst>
          </p:nvPr>
        </p:nvSpPr>
        <p:spPr>
          <a:xfrm>
            <a:off x="1846580" y="3345180"/>
            <a:ext cx="3775075" cy="358775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标准化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530475" y="4113530"/>
            <a:ext cx="544830" cy="0"/>
          </a:xfrm>
          <a:prstGeom prst="straightConnector1">
            <a:avLst/>
          </a:prstGeom>
          <a:ln>
            <a:solidFill>
              <a:srgbClr val="4A7EB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5" idx="3"/>
            <a:endCxn id="26" idx="1"/>
          </p:cNvCxnSpPr>
          <p:nvPr/>
        </p:nvCxnSpPr>
        <p:spPr>
          <a:xfrm>
            <a:off x="3759200" y="4113530"/>
            <a:ext cx="544830" cy="0"/>
          </a:xfrm>
          <a:prstGeom prst="straightConnector1">
            <a:avLst/>
          </a:prstGeom>
          <a:ln>
            <a:solidFill>
              <a:srgbClr val="4A7EB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圆角矩形 70"/>
          <p:cNvSpPr/>
          <p:nvPr>
            <p:custDataLst>
              <p:tags r:id="rId35"/>
            </p:custDataLst>
          </p:nvPr>
        </p:nvSpPr>
        <p:spPr>
          <a:xfrm>
            <a:off x="8839835" y="3345180"/>
            <a:ext cx="2731770" cy="524510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药品数据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多版本管理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圆角矩形 70"/>
          <p:cNvSpPr/>
          <p:nvPr>
            <p:custDataLst>
              <p:tags r:id="rId36"/>
            </p:custDataLst>
          </p:nvPr>
        </p:nvSpPr>
        <p:spPr>
          <a:xfrm>
            <a:off x="8839835" y="3994150"/>
            <a:ext cx="2731770" cy="524510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药品数据回传</a:t>
            </a:r>
            <a:r>
              <a: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HIS</a:t>
            </a:r>
            <a:endParaRPr lang="zh-CN" altLang="en-US" sz="1500" b="1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圆角矩形 70"/>
          <p:cNvSpPr/>
          <p:nvPr>
            <p:custDataLst>
              <p:tags r:id="rId37"/>
            </p:custDataLst>
          </p:nvPr>
        </p:nvSpPr>
        <p:spPr>
          <a:xfrm>
            <a:off x="1765300" y="1917700"/>
            <a:ext cx="683895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展示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圆角矩形 70"/>
          <p:cNvSpPr/>
          <p:nvPr>
            <p:custDataLst>
              <p:tags r:id="rId38"/>
            </p:custDataLst>
          </p:nvPr>
        </p:nvSpPr>
        <p:spPr>
          <a:xfrm>
            <a:off x="2787650" y="1917700"/>
            <a:ext cx="683895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维度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下钻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圆角矩形 70"/>
          <p:cNvSpPr/>
          <p:nvPr>
            <p:custDataLst>
              <p:tags r:id="rId39"/>
            </p:custDataLst>
          </p:nvPr>
        </p:nvSpPr>
        <p:spPr>
          <a:xfrm>
            <a:off x="3810000" y="1917700"/>
            <a:ext cx="683895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导出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发送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圆角矩形 70"/>
          <p:cNvSpPr/>
          <p:nvPr>
            <p:custDataLst>
              <p:tags r:id="rId40"/>
            </p:custDataLst>
          </p:nvPr>
        </p:nvSpPr>
        <p:spPr>
          <a:xfrm>
            <a:off x="7047230" y="1917700"/>
            <a:ext cx="105283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医疗质控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分析看板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圆角矩形 70"/>
          <p:cNvSpPr/>
          <p:nvPr>
            <p:custDataLst>
              <p:tags r:id="rId41"/>
            </p:custDataLst>
          </p:nvPr>
        </p:nvSpPr>
        <p:spPr>
          <a:xfrm>
            <a:off x="8204835" y="1917700"/>
            <a:ext cx="105283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合理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用药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指标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圆角矩形 70"/>
          <p:cNvSpPr/>
          <p:nvPr>
            <p:custDataLst>
              <p:tags r:id="rId42"/>
            </p:custDataLst>
          </p:nvPr>
        </p:nvSpPr>
        <p:spPr>
          <a:xfrm>
            <a:off x="9362440" y="1917700"/>
            <a:ext cx="105283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库房运营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指标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圆角矩形 70"/>
          <p:cNvSpPr/>
          <p:nvPr>
            <p:custDataLst>
              <p:tags r:id="rId43"/>
            </p:custDataLst>
          </p:nvPr>
        </p:nvSpPr>
        <p:spPr>
          <a:xfrm>
            <a:off x="10520045" y="1917700"/>
            <a:ext cx="105283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…………</a:t>
            </a: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圆角矩形 70"/>
          <p:cNvSpPr/>
          <p:nvPr>
            <p:custDataLst>
              <p:tags r:id="rId44"/>
            </p:custDataLst>
          </p:nvPr>
        </p:nvSpPr>
        <p:spPr>
          <a:xfrm>
            <a:off x="4732020" y="1917700"/>
            <a:ext cx="105283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药品主题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分析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看板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圆角矩形 70"/>
          <p:cNvSpPr/>
          <p:nvPr>
            <p:custDataLst>
              <p:tags r:id="rId45"/>
            </p:custDataLst>
          </p:nvPr>
        </p:nvSpPr>
        <p:spPr>
          <a:xfrm>
            <a:off x="5889625" y="1917700"/>
            <a:ext cx="1052830" cy="679450"/>
          </a:xfrm>
          <a:prstGeom prst="roundRect">
            <a:avLst/>
          </a:prstGeom>
          <a:solidFill>
            <a:schemeClr val="bg1"/>
          </a:solidFill>
          <a:ln>
            <a:solidFill>
              <a:srgbClr val="4A7EBB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三公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绩效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  <a:p>
            <a:pPr lvl="0" algn="ctr">
              <a:buClrTx/>
              <a:buSzTx/>
              <a:buFontTx/>
            </a:pP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分析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看板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项目能力展示一：数据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标准管理后台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490" y="1125855"/>
            <a:ext cx="10083165" cy="5396230"/>
          </a:xfrm>
          <a:prstGeom prst="rect">
            <a:avLst/>
          </a:prstGeom>
        </p:spPr>
      </p:pic>
    </p:spTree>
  </p:cSld>
  <p:clrMapOvr>
    <a:masterClrMapping/>
  </p:clrMapOvr>
  <p:transition spd="slow" advClick="0"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Box 43"/>
          <p:cNvSpPr txBox="1">
            <a:spLocks noChangeArrowheads="1"/>
          </p:cNvSpPr>
          <p:nvPr/>
        </p:nvSpPr>
        <p:spPr bwMode="auto">
          <a:xfrm>
            <a:off x="2590800" y="188913"/>
            <a:ext cx="6384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项目能力展示二：药品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主数据管理</a:t>
            </a:r>
            <a:endParaRPr lang="zh-CN" altLang="en-US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1053465"/>
            <a:ext cx="10026015" cy="5572125"/>
          </a:xfrm>
          <a:prstGeom prst="rect">
            <a:avLst/>
          </a:prstGeom>
        </p:spPr>
      </p:pic>
    </p:spTree>
  </p:cSld>
  <p:clrMapOvr>
    <a:masterClrMapping/>
  </p:clrMapOvr>
  <p:transition spd="slow" advClick="0" advTm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Box 43"/>
          <p:cNvSpPr txBox="1">
            <a:spLocks noChangeArrowheads="1"/>
          </p:cNvSpPr>
          <p:nvPr/>
        </p:nvSpPr>
        <p:spPr bwMode="auto">
          <a:xfrm>
            <a:off x="2590800" y="189230"/>
            <a:ext cx="82683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交付内容展示一：可视化分析引擎（模拟数据）</a:t>
            </a:r>
            <a:endParaRPr lang="en-US" altLang="zh-CN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925" y="1270000"/>
            <a:ext cx="9266555" cy="5024120"/>
          </a:xfrm>
          <a:prstGeom prst="rect">
            <a:avLst/>
          </a:prstGeom>
        </p:spPr>
      </p:pic>
    </p:spTree>
  </p:cSld>
  <p:clrMapOvr>
    <a:masterClrMapping/>
  </p:clrMapOvr>
  <p:transition spd="slow" advClick="0" advTm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3"/>
          <p:cNvSpPr txBox="1">
            <a:spLocks noChangeArrowheads="1"/>
          </p:cNvSpPr>
          <p:nvPr/>
        </p:nvSpPr>
        <p:spPr bwMode="auto">
          <a:xfrm>
            <a:off x="2590800" y="189230"/>
            <a:ext cx="82683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交付内容展示</a:t>
            </a:r>
            <a:r>
              <a:rPr lang="zh-CN" altLang="en-US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二：药事运营决策分析（模拟数据）</a:t>
            </a:r>
            <a:endParaRPr lang="en-US" altLang="zh-CN" sz="28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80" y="1125855"/>
            <a:ext cx="9512300" cy="5321300"/>
          </a:xfrm>
          <a:prstGeom prst="rect">
            <a:avLst/>
          </a:prstGeom>
        </p:spPr>
      </p:pic>
    </p:spTree>
  </p:cSld>
  <p:clrMapOvr>
    <a:masterClrMapping/>
  </p:clrMapOvr>
  <p:transition spd="slow" advClick="0" advTm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989138"/>
            <a:ext cx="12190413" cy="2879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27" name="TextBox 3"/>
          <p:cNvSpPr txBox="1"/>
          <p:nvPr/>
        </p:nvSpPr>
        <p:spPr>
          <a:xfrm>
            <a:off x="4943078" y="2926393"/>
            <a:ext cx="2376264" cy="922020"/>
          </a:xfrm>
          <a:prstGeom prst="rect">
            <a:avLst/>
          </a:prstGeom>
          <a:noFill/>
        </p:spPr>
        <p:txBody>
          <a:bodyPr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7200" spc="50">
                <a:ln w="11430"/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康俪金黑W8(P)" pitchFamily="34" charset="-122"/>
                <a:ea typeface="华康俪金黑W8(P)" pitchFamily="34" charset="-122"/>
                <a:cs typeface="经典繁仿黑" pitchFamily="49" charset="-122"/>
              </a:defRPr>
            </a:lvl1pPr>
          </a:lstStyle>
          <a:p>
            <a:pPr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 sz="5400" b="1" spc="0" noProof="1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谢  谢</a:t>
            </a:r>
            <a:endParaRPr lang="zh-CN" altLang="en-US" sz="5400" b="1" spc="0" noProof="1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0"/>
    </mc:Choice>
    <mc:Fallback>
      <p:transition spd="slow" advClick="0" advTm="0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28047_5*l_i*1_1"/>
  <p:tag name="KSO_WM_TEMPLATE_CATEGORY" val="diagram"/>
  <p:tag name="KSO_WM_TEMPLATE_INDEX" val="20228047"/>
  <p:tag name="KSO_WM_UNIT_LAYERLEVEL" val="1_1"/>
  <p:tag name="KSO_WM_TAG_VERSION" val="1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28047_5*l_i*1_2"/>
  <p:tag name="KSO_WM_TEMPLATE_CATEGORY" val="diagram"/>
  <p:tag name="KSO_WM_TEMPLATE_INDEX" val="20228047"/>
  <p:tag name="KSO_WM_UNIT_LAYERLEVEL" val="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5.xml><?xml version="1.0" encoding="utf-8"?>
<p:tagLst xmlns:p="http://schemas.openxmlformats.org/presentationml/2006/main">
  <p:tag name="KSO_WM_UNIT_VALUE" val="220*2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28047_5*l_x*1_1"/>
  <p:tag name="KSO_WM_TEMPLATE_CATEGORY" val="diagram"/>
  <p:tag name="KSO_WM_TEMPLATE_INDEX" val="20228047"/>
  <p:tag name="KSO_WM_UNIT_LAYERLEVEL" val="1_1"/>
  <p:tag name="KSO_WM_TAG_VERSION" val="1.0"/>
  <p:tag name="KSO_WM_BEAUTIFY_FLAG" val="#wm#"/>
  <p:tag name="KSO_WM_DIAGRAM_VIRTUALLY_FRAME" val="{&quot;height&quot;:346.36818897637795,&quot;left&quot;:88.45,&quot;top&quot;:156.75,&quot;width&quot;:762.85}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diagram20228047_5*l_i*1_3"/>
  <p:tag name="KSO_WM_TEMPLATE_CATEGORY" val="diagram"/>
  <p:tag name="KSO_WM_TEMPLATE_INDEX" val="20228047"/>
  <p:tag name="KSO_WM_UNIT_LAYERLEVEL" val="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47_5*l_h_i*1_1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8047_5*l_h_i*1_1_2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47_5*l_h_i*1_2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8047_5*l_h_i*1_2_2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047_5*l_h_i*1_3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28047_5*l_h_i*1_3_2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8047_5*l_h_i*1_4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28047_5*l_h_i*1_4_2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28047_5*l_h_i*1_5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28047_5*l_h_i*1_5_2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FILL_FORE_SCHEMECOLOR_INDEX" val="9"/>
  <p:tag name="KSO_WM_UNIT_FILL_TYPE" val="1"/>
  <p:tag name="KSO_WM_UNIT_TEXT_FILL_FORE_SCHEMECOLOR_INDEX" val="2"/>
  <p:tag name="KSO_WM_UNIT_TEXT_FILL_TYPE" val="1"/>
  <p:tag name="KSO_WM_DIAGRAM_VIRTUALLY_FRAME" val="{&quot;height&quot;:346.36818897637795,&quot;left&quot;:88.45,&quot;top&quot;:156.75,&quot;width&quot;:762.85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diagram20228047_5*i*1"/>
  <p:tag name="KSO_WM_TEMPLATE_CATEGORY" val="diagram"/>
  <p:tag name="KSO_WM_TEMPLATE_INDEX" val="2022804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18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047_5*l_h_f*1_3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6.36818897637795,&quot;left&quot;:88.45,&quot;top&quot;:156.75,&quot;width&quot;:762.85}"/>
</p:tagLst>
</file>

<file path=ppt/tags/tag19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47_5*l_h_f*1_1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6.36818897637795,&quot;left&quot;:88.45,&quot;top&quot;:156.75,&quot;width&quot;:762.85}"/>
</p:tagLst>
</file>

<file path=ppt/tags/tag20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47_5*l_h_f*1_2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6.36818897637795,&quot;left&quot;:88.45,&quot;top&quot;:156.75,&quot;width&quot;:762.85}"/>
</p:tagLst>
</file>

<file path=ppt/tags/tag21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28047_5*l_h_f*1_5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6.36818897637795,&quot;left&quot;:88.45,&quot;top&quot;:156.75,&quot;width&quot;:762.85}"/>
</p:tagLst>
</file>

<file path=ppt/tags/tag22.xml><?xml version="1.0" encoding="utf-8"?>
<p:tagLst xmlns:p="http://schemas.openxmlformats.org/presentationml/2006/main">
  <p:tag name="KSO_WM_UNIT_SUBTYPE" val="a"/>
  <p:tag name="KSO_WM_UNIT_PRESET_TEXT" val="单击此处输入你的正文，文字是您思想的提炼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047_5*l_h_f*1_4_1"/>
  <p:tag name="KSO_WM_TEMPLATE_CATEGORY" val="diagram"/>
  <p:tag name="KSO_WM_TEMPLATE_INDEX" val="2022804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346.36818897637795,&quot;left&quot;:88.45,&quot;top&quot;:156.75,&quot;width&quot;:762.85}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27923_4*a*1"/>
  <p:tag name="KSO_WM_TEMPLATE_CATEGORY" val="diagram"/>
  <p:tag name="KSO_WM_TEMPLATE_INDEX" val="20227923"/>
  <p:tag name="KSO_WM_UNIT_LAYERLEVEL" val="1"/>
  <p:tag name="KSO_WM_TAG_VERSION" val="1.0"/>
  <p:tag name="KSO_WM_BEAUTIFY_FLAG" val="#wm#"/>
  <p:tag name="KSO_WM_UNIT_TEXT_FILL_FORE_SCHEMECOLOR_INDEX" val="5"/>
  <p:tag name="KSO_WM_UNIT_TEXT_FILL_TYPE" val="1"/>
</p:tagLst>
</file>

<file path=ppt/tags/tag24.xml><?xml version="1.0" encoding="utf-8"?>
<p:tagLst xmlns:p="http://schemas.openxmlformats.org/presentationml/2006/main">
  <p:tag name="TABLE_ENDDRAG_ORIGIN_RECT" val="731*325"/>
  <p:tag name="TABLE_ENDDRAG_RECT" val="60*129*731*325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4_2*l_h_a*1_1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90.90000610351564,&quot;left&quot;:9.278582677165355,&quot;top&quot;:144.25,&quot;width&quot;:956.27141732283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"/>
  <p:tag name="KSO_WM_DIAGRAM_VERSION" val="3"/>
  <p:tag name="KSO_WM_DIAGRAM_COLOR_TRICK" val="1"/>
  <p:tag name="KSO_WM_DIAGRAM_COLOR_TEXT_CAN_REMOVE" val="n"/>
  <p:tag name="KSO_WM_UNIT_PRESET_TEXT" val="添加文档标题"/>
  <p:tag name="KSO_WM_UNIT_TEXT_FILL_FORE_SCHEMECOLOR_INDEX" val="1"/>
  <p:tag name="KSO_WM_UNIT_TEXT_FILL_TYPE" val="1"/>
  <p:tag name="KSO_WM_UNIT_USESOURCEFORMAT_APPLY" val="0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4_2*l_h_a*1_2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90.90000610351564,&quot;left&quot;:9.278582677165355,&quot;top&quot;:144.25,&quot;width&quot;:956.27141732283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PRESET_TEXT" val="添加文档标题"/>
  <p:tag name="KSO_WM_UNIT_TEXT_FILL_FORE_SCHEMECOLOR_INDEX" val="1"/>
  <p:tag name="KSO_WM_UNIT_TEXT_FILL_TYPE" val="1"/>
  <p:tag name="KSO_WM_UNIT_USESOURCEFORMAT_APPLY" val="0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4_2*l_h_a*1_3_1"/>
  <p:tag name="KSO_WM_TEMPLATE_CATEGORY" val="diagram"/>
  <p:tag name="KSO_WM_TEMPLATE_INDEX" val="20232474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290.90000610351564,&quot;left&quot;:54.50727813961002,&quot;top&quot;:144.25,&quot;width&quot;:911.042721860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9"/>
  <p:tag name="KSO_WM_DIAGRAM_VERSION" val="3"/>
  <p:tag name="KSO_WM_DIAGRAM_COLOR_TRICK" val="1"/>
  <p:tag name="KSO_WM_DIAGRAM_COLOR_TEXT_CAN_REMOVE" val="n"/>
  <p:tag name="KSO_WM_UNIT_PRESET_TEXT" val="添加文档标题"/>
  <p:tag name="KSO_WM_UNIT_TEXT_FILL_FORE_SCHEMECOLOR_INDEX" val="1"/>
  <p:tag name="KSO_WM_UNIT_TEXT_FILL_TYPE" val="1"/>
  <p:tag name="KSO_WM_UNIT_USESOURCEFORMAT_APPLY" val="0"/>
</p:tagLst>
</file>

<file path=ppt/tags/tag28.xml><?xml version="1.0" encoding="utf-8"?>
<p:tagLst xmlns:p="http://schemas.openxmlformats.org/presentationml/2006/main">
  <p:tag name="KSO_WM_UNIT_VALUE" val="1153*115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280_1*d*1"/>
  <p:tag name="KSO_WM_TEMPLATE_CATEGORY" val="custom"/>
  <p:tag name="KSO_WM_TEMPLATE_INDEX" val="20233280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29.xml><?xml version="1.0" encoding="utf-8"?>
<p:tagLst xmlns:p="http://schemas.openxmlformats.org/presentationml/2006/main">
  <p:tag name="TABLE_ENDDRAG_ORIGIN_RECT" val="877*415"/>
  <p:tag name="TABLE_ENDDRAG_RECT" val="58*90*877*415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commondata" val="eyJoZGlkIjoiMGIyMjRiNDk4NTZhMGZhZDAyYzVjZGIwZTk1MzlmOG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75000"/>
          </a:schemeClr>
        </a:solidFill>
        <a:ln w="12700">
          <a:noFill/>
          <a:round/>
        </a:ln>
      </a:spPr>
      <a:bodyPr vert="horz" wrap="square" lIns="91440" tIns="45720" rIns="91440" bIns="45720" numCol="1" anchor="t" anchorCtr="0" compatLnSpc="1"/>
      <a:lstStyle>
        <a:defPPr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3272</Words>
  <Application>WPS 演示</Application>
  <PresentationFormat>自定义</PresentationFormat>
  <Paragraphs>942</Paragraphs>
  <Slides>26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微软雅黑</vt:lpstr>
      <vt:lpstr>华康俪金黑W8(P)</vt:lpstr>
      <vt:lpstr>黑体</vt:lpstr>
      <vt:lpstr>经典繁仿黑</vt:lpstr>
      <vt:lpstr>Arial Unicode MS</vt:lpstr>
      <vt:lpstr>Times New Roman</vt:lpstr>
      <vt:lpstr>汉仪晓波敦黑简</vt:lpstr>
      <vt:lpstr>思源黑体 CN Regular</vt:lpstr>
      <vt:lpstr>Roboto Light</vt:lpstr>
      <vt:lpstr>Segoe Print</vt:lpstr>
      <vt:lpstr>Arial Unicode MS</vt:lpstr>
      <vt:lpstr>Calibri</vt:lpstr>
      <vt:lpstr>Tahoma</vt:lpstr>
      <vt:lpstr>Monotype Sorts</vt:lpstr>
      <vt:lpstr>Wingdings</vt:lpstr>
      <vt:lpstr>Segoe UI</vt:lpstr>
      <vt:lpstr>微软雅黑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史千山</dc:creator>
  <cp:keywords>健康卡</cp:keywords>
  <dc:subject>健康卡发行应用实施方案</dc:subject>
  <cp:lastModifiedBy>沧海流年</cp:lastModifiedBy>
  <cp:revision>1429</cp:revision>
  <dcterms:created xsi:type="dcterms:W3CDTF">2024-01-08T08:54:00Z</dcterms:created>
  <dcterms:modified xsi:type="dcterms:W3CDTF">2024-05-30T01:29:39Z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7182E22FDE3742AEAFABBE84A7AC0672_12</vt:lpwstr>
  </property>
</Properties>
</file>